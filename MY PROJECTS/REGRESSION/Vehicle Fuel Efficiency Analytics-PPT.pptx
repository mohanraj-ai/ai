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Urbanist SemiBold" panose="020B0604020202020204" charset="0"/>
      <p:regular r:id="rId26"/>
      <p:bold r:id="rId27"/>
      <p:italic r:id="rId28"/>
      <p:boldItalic r:id="rId29"/>
    </p:embeddedFont>
    <p:embeddedFont>
      <p:font typeface="Urbanist" panose="020B0604020202020204" charset="0"/>
      <p:regular r:id="rId30"/>
      <p:bold r:id="rId31"/>
      <p:italic r:id="rId32"/>
      <p:boldItalic r:id="rId33"/>
    </p:embeddedFont>
    <p:embeddedFont>
      <p:font typeface="Space Grotesk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FF1112-6C9E-489C-8B47-8F411C409109}">
  <a:tblStyle styleId="{3DFF1112-6C9E-489C-8B47-8F411C40910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36" y="-17179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05301" y="1711037"/>
            <a:ext cx="11181397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VEHICLE </a:t>
            </a:r>
            <a:r>
              <a:rPr lang="en-US" sz="6000" b="1" i="0" u="none" strike="noStrike" cap="none" dirty="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FUEL EFFICIENCY</a:t>
            </a:r>
            <a:r>
              <a:rPr lang="en-US" sz="60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PREDICTION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71524" y="3939887"/>
            <a:ext cx="10648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B6FF00"/>
                </a:solidFill>
                <a:latin typeface="Urbanist"/>
                <a:ea typeface="Urbanist"/>
                <a:cs typeface="Urbanist"/>
                <a:sym typeface="Urbanist"/>
              </a:rPr>
              <a:t>Data-Driven Intelligence for the Modern Road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EXECUTIVE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OVERVIEW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2405062"/>
            <a:ext cx="513397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This presentation details the development of a high-performance machine learning pipeline designed to predict automotive efficiency based on mechanical features.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1114425" y="4229100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52525" y="4252912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Phase I: Large-scale Data Wrangling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14425" y="4600575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52525" y="4624387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Phase II: Algorithm Benchmarking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14425" y="4972050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52525" y="4995862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Phase III: Validation &amp; Deployment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0" y="1066800"/>
            <a:ext cx="51625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05301" y="2576512"/>
            <a:ext cx="11181397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I: </a:t>
            </a:r>
            <a:r>
              <a:rPr lang="en-US" sz="525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ENGINEERING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71525" y="3748087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6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FROM RAW METADATA TO PREDICTIVE SIGNALS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</a:t>
            </a:r>
            <a:r>
              <a:rPr lang="en-US" sz="3900" b="1" i="0" u="none" strike="noStrike" cap="none" dirty="0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EXTRACTION</a:t>
            </a:r>
            <a:endParaRPr dirty="0"/>
          </a:p>
        </p:txBody>
      </p:sp>
      <p:sp>
        <p:nvSpPr>
          <p:cNvPr id="119" name="Google Shape;119;p16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2531918" y="1843727"/>
            <a:ext cx="513397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We leveraged a massive repository of 10M+ vehicle records, focusing on core physical attributes: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6629400" y="3700462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3439391" y="3481387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Vehicle Mass (kg)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6629400" y="4071937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3439391" y="3874293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Engine Power (kW)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6629400" y="4443412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439390" y="4407694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Engine Capacity (cc)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629400" y="4814887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439389" y="4925615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Fuel Category (Petrol/Diesel)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590675"/>
            <a:ext cx="339090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0550" y="1590675"/>
            <a:ext cx="339090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9575" y="1590675"/>
            <a:ext cx="33909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WRANGLING</a:t>
            </a: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PIPELINE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800" y="1885950"/>
            <a:ext cx="28003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066800" y="237172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SANITIZATION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066800" y="2924175"/>
            <a:ext cx="280035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Cleaning technical shorthand and stripping whitespace from feature labels.</a:t>
            </a:r>
            <a:endParaRPr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95825" y="1885950"/>
            <a:ext cx="28003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4695825" y="237172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IMPUTATION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695825" y="2924175"/>
            <a:ext cx="28003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Median-based strategy for missing numerical technical specifications.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24850" y="1885950"/>
            <a:ext cx="28003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324850" y="2371725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PRUNING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324850" y="2924175"/>
            <a:ext cx="28003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Removing electric-specific metrics to focus on IC engine efficiency.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HANDLING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ANOMALIES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771525" y="2643187"/>
            <a:ext cx="539067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ROBUST IQR CLIPPING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71525" y="3090862"/>
            <a:ext cx="51339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Extreme technical specs (supercars/industrial machinery) can skew model learning. We constrained features within 1.5x IQR.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771525" y="4348162"/>
            <a:ext cx="51339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6FF00"/>
                </a:solidFill>
                <a:latin typeface="Urbanist"/>
                <a:ea typeface="Urbanist"/>
                <a:cs typeface="Urbanist"/>
                <a:sym typeface="Urbanist"/>
              </a:rPr>
              <a:t>Results: Improved baseline model stability by 12% across varied car segments.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3695700"/>
            <a:ext cx="106489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ENGINEERING THE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TARGET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771525" y="2819400"/>
            <a:ext cx="106489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raw dataset provided 'Fuel Consumption' (L/100km). We engineered a more intuitive efficiency metric for better consumer insight: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71525" y="4743450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This transformation normalized the target distribution and enhanced predictive signal strength.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590675"/>
            <a:ext cx="5133975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943350"/>
            <a:ext cx="5133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4600575"/>
            <a:ext cx="51339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943350"/>
            <a:ext cx="4877246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4600575"/>
            <a:ext cx="420975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FEATURE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PRIORITIZATION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1050" y="1600200"/>
            <a:ext cx="5114925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6286500" y="3124200"/>
            <a:ext cx="51339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Top Drivers identified through correlation analysis: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286500" y="3657600"/>
            <a:ext cx="51339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Engine Power (kW)Strongest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286500" y="4314825"/>
            <a:ext cx="51339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Vehicle Mass (kg)High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752725"/>
            <a:ext cx="33909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0550" y="2752725"/>
            <a:ext cx="33909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9575" y="2752725"/>
            <a:ext cx="33909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EXPLORATORY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ANALYSIS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1066800" y="3048000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MASS CORRELATION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066800" y="3600450"/>
            <a:ext cx="28003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Efficiency drops exponentially as vehicle mass exceeds 1600kg.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695825" y="3048000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 INFLUENCE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695825" y="3600450"/>
            <a:ext cx="28003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Optimal efficiency found in the 70kW - 110kW output range.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324850" y="3048000"/>
            <a:ext cx="294036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FUEL VARIANCE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8324850" y="3600450"/>
            <a:ext cx="28003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Diesel cycles show higher average thermal efficiency in heavy vehicles.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505301" y="2576512"/>
            <a:ext cx="11181397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II: </a:t>
            </a:r>
            <a:r>
              <a:rPr lang="en-US" sz="525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ALGORITHM SELECTION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771525" y="3748087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6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BENCHMARKING PERFORMANCE ACROSS MODELS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590675"/>
            <a:ext cx="5133975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LINEAR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BASELINES</a:t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771525" y="2862262"/>
            <a:ext cx="51339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Initial testing focused on linear and regularized models. While fast, they failed to capture automotive complexities.</a:t>
            </a:r>
            <a:endParaRPr/>
          </a:p>
        </p:txBody>
      </p:sp>
      <p:pic>
        <p:nvPicPr>
          <p:cNvPr id="219" name="Google Shape;21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600200"/>
            <a:ext cx="5114925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1114425" y="4057650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1152525" y="4081462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Linear Regression R²: 0.54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1114425" y="4429125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1152525" y="4452937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Ridge/Lasso R²: 0.54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114425" y="4800600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1152525" y="4824412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Support Vector Regressor R²: 0.53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1590675"/>
            <a:ext cx="5133975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TREE-BASED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EVOLUTION</a:t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1050" y="1600200"/>
            <a:ext cx="5114925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6286500" y="2814637"/>
            <a:ext cx="51339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Transitioning to tree architectures allowed the model to split decisions based on specific engine thresholds.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6286500" y="4891087"/>
            <a:ext cx="51339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2FF"/>
                </a:solidFill>
                <a:latin typeface="Urbanist"/>
                <a:ea typeface="Urbanist"/>
                <a:cs typeface="Urbanist"/>
                <a:sym typeface="Urbanist"/>
              </a:rPr>
              <a:t>Significantly reduced MAE in high-performance segments.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6629400" y="4010025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6667500" y="4033837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Decision Tree R²: 0.88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6629400" y="4381500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6667500" y="4405312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KNN (k=9) R²: 0.90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ENSEMBLE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EXCELLENCE</a:t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771525" y="3600450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Combining multiple weak learners yielded the highest performance metrics: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771525" y="4133850"/>
            <a:ext cx="10648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XGBoost Regressor 91% Accuracy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771525" y="4314825"/>
            <a:ext cx="10648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Random Forest Regressor 96% Accuracy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43212"/>
            <a:ext cx="5133975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WINNER</a:t>
            </a: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: RANDOM FOREST</a:t>
            </a:r>
            <a:endParaRPr/>
          </a:p>
        </p:txBody>
      </p:sp>
      <p:sp>
        <p:nvSpPr>
          <p:cNvPr id="258" name="Google Shape;258;p26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771525" y="3033712"/>
            <a:ext cx="51339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Random Forest was selected for production due to its exceptional R² score and variance handling.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6468189" y="3138487"/>
            <a:ext cx="4770596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96%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6581775" y="4138612"/>
            <a:ext cx="45434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R-Squared Score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1114425" y="3886200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1152525" y="3910012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n_estimators: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200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1114425" y="4257675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1152525" y="4281487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max_depth: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20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1114425" y="4629150"/>
            <a:ext cx="38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1152525" y="4652962"/>
            <a:ext cx="47529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Criterion: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Squared Error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752725"/>
            <a:ext cx="513397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24175"/>
            <a:ext cx="5133975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STABILITY</a:t>
            </a: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1066800" y="3048000"/>
            <a:ext cx="477059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GENERALIZATION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1066800" y="3600450"/>
            <a:ext cx="45434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model shows zero bias across diverse vehicle classes, from city hatchbacks to performance sedans.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6581775" y="3219450"/>
            <a:ext cx="477059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RELIABILITY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6581775" y="3771900"/>
            <a:ext cx="4543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Validation on unseen test data confirms the model’s robustness against overfitting.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 txBox="1"/>
          <p:nvPr/>
        </p:nvSpPr>
        <p:spPr>
          <a:xfrm>
            <a:off x="505301" y="2152650"/>
            <a:ext cx="11181397" cy="169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PHASE III: </a:t>
            </a:r>
            <a:r>
              <a:rPr lang="en-US" sz="525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VALIDATION &amp; DEPLOYMENT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771525" y="4171950"/>
            <a:ext cx="10648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6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MEASURING PREDICTIONS AGAINST REALITY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BENCHMARKS</a:t>
            </a:r>
            <a:endParaRPr/>
          </a:p>
        </p:txBody>
      </p:sp>
      <p:sp>
        <p:nvSpPr>
          <p:cNvPr id="294" name="Google Shape;294;p29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771525" y="3009900"/>
            <a:ext cx="10648950" cy="1847850"/>
          </a:xfrm>
          <a:prstGeom prst="roundRect">
            <a:avLst>
              <a:gd name="adj" fmla="val 0"/>
            </a:avLst>
          </a:prstGeom>
          <a:solidFill>
            <a:srgbClr val="141419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6" name="Google Shape;296;p29"/>
          <p:cNvGraphicFramePr/>
          <p:nvPr/>
        </p:nvGraphicFramePr>
        <p:xfrm>
          <a:off x="771525" y="3009900"/>
          <a:ext cx="10648950" cy="1847850"/>
        </p:xfrm>
        <a:graphic>
          <a:graphicData uri="http://schemas.openxmlformats.org/drawingml/2006/table">
            <a:tbl>
              <a:tblPr firstRow="1" bandRow="1">
                <a:noFill/>
                <a:tableStyleId>{3DFF1112-6C9E-489C-8B47-8F411C409109}</a:tableStyleId>
              </a:tblPr>
              <a:tblGrid>
                <a:gridCol w="361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Linear Baseline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Winning RF 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R² 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0.54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B6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Mean Abs Error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3.8 km/L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B6FF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0.35 km/L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7" name="Google Shape;297;p29"/>
          <p:cNvSpPr/>
          <p:nvPr/>
        </p:nvSpPr>
        <p:spPr>
          <a:xfrm>
            <a:off x="771525" y="3590925"/>
            <a:ext cx="3610421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4381946" y="3590925"/>
            <a:ext cx="3306216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7688163" y="3590925"/>
            <a:ext cx="3732311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771525" y="4224337"/>
            <a:ext cx="361042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4381946" y="4224337"/>
            <a:ext cx="33062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7688163" y="4224337"/>
            <a:ext cx="373231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771525" y="4843462"/>
            <a:ext cx="361042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4381946" y="4843462"/>
            <a:ext cx="33062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7688163" y="4843462"/>
            <a:ext cx="373231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/>
        </p:nvSpPr>
        <p:spPr>
          <a:xfrm>
            <a:off x="962025" y="581025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 VS. </a:t>
            </a:r>
            <a:r>
              <a:rPr lang="en-US" sz="39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PREDICTED</a:t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771525" y="581025"/>
            <a:ext cx="95250" cy="62865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4" name="Google Shape;314;p30"/>
          <p:cNvGraphicFramePr/>
          <p:nvPr>
            <p:extLst>
              <p:ext uri="{D42A27DB-BD31-4B8C-83A1-F6EECF244321}">
                <p14:modId xmlns:p14="http://schemas.microsoft.com/office/powerpoint/2010/main" val="2510399246"/>
              </p:ext>
            </p:extLst>
          </p:nvPr>
        </p:nvGraphicFramePr>
        <p:xfrm>
          <a:off x="250161" y="1642629"/>
          <a:ext cx="11693236" cy="4544292"/>
        </p:xfrm>
        <a:graphic>
          <a:graphicData uri="http://schemas.openxmlformats.org/drawingml/2006/table">
            <a:tbl>
              <a:tblPr firstRow="1" bandRow="1">
                <a:noFill/>
                <a:tableStyleId>{3DFF1112-6C9E-489C-8B47-8F411C409109}</a:tableStyleId>
              </a:tblPr>
              <a:tblGrid>
                <a:gridCol w="2923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6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5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737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Vehicle 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Real Mileage (km/L)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Predicted (km/L)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F2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37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Maruti</a:t>
                      </a: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Swift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22.00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19.71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89.6%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37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Honda 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17.80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18.52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95.9%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37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Honda Civic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16.50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16.59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99.5%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37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Toyota Corolla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16.00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17.07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93.3%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40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VW Polo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18.20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18.52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98.2%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7" name="Google Shape;327;p30"/>
          <p:cNvSpPr/>
          <p:nvPr/>
        </p:nvSpPr>
        <p:spPr>
          <a:xfrm>
            <a:off x="790575" y="3914775"/>
            <a:ext cx="2657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3448050" y="3914775"/>
            <a:ext cx="32977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6745783" y="3914775"/>
            <a:ext cx="28335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9579322" y="3914775"/>
            <a:ext cx="18411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790575" y="5772150"/>
            <a:ext cx="26574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3448050" y="5772150"/>
            <a:ext cx="329773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6745783" y="5772150"/>
            <a:ext cx="28335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9579322" y="5772150"/>
            <a:ext cx="18411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0312" y="1319212"/>
            <a:ext cx="71913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2"/>
          <p:cNvSpPr txBox="1"/>
          <p:nvPr/>
        </p:nvSpPr>
        <p:spPr>
          <a:xfrm>
            <a:off x="2320528" y="2747962"/>
            <a:ext cx="755094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OPEN SOURCE </a:t>
            </a:r>
            <a:r>
              <a:rPr lang="en-US" sz="4500" b="1" i="0" u="none" strike="noStrike" cap="none">
                <a:solidFill>
                  <a:srgbClr val="00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REPOSITORY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2500312" y="3976687"/>
            <a:ext cx="71913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IN" sz="2400" dirty="0"/>
              <a:t>https://</a:t>
            </a:r>
            <a:r>
              <a:rPr lang="en-IN" sz="2400" dirty="0">
                <a:solidFill>
                  <a:schemeClr val="bg1"/>
                </a:solidFill>
              </a:rPr>
              <a:t>github.com/mohanraj-Ai/FUEL-EFFICIENCY-PREDICTOR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2500312" y="5005387"/>
            <a:ext cx="71913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534</Words>
  <Application>Microsoft Office PowerPoint</Application>
  <PresentationFormat>Widescreen</PresentationFormat>
  <Paragraphs>122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Urbanist SemiBold</vt:lpstr>
      <vt:lpstr>Arial</vt:lpstr>
      <vt:lpstr>Urbanist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modified xsi:type="dcterms:W3CDTF">2026-01-25T19:09:29Z</dcterms:modified>
</cp:coreProperties>
</file>