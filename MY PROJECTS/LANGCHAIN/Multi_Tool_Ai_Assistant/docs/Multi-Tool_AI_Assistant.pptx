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cf49b3c-5196-386a-6b17-58ff5a3b6026}">
          <p14:sldIdLst>
            <p14:sldId id="256"/>
          </p14:sldIdLst>
        </p14:section>
        <p14:section name="Context" id="{a21929a0-1bdd-0df6-bae7-cf9d28507153}">
          <p14:sldIdLst>
            <p14:sldId id="257"/>
            <p14:sldId id="258"/>
          </p14:sldIdLst>
        </p14:section>
        <p14:section name="Context" id="{21dc01b4-0c4a-6094-7bdf-b6c7ad4cb278}">
          <p14:sldIdLst/>
        </p14:section>
        <p14:section name="Design" id="{4807fca4-9c57-3ca2-5534-01b6d00b053b}">
          <p14:sldIdLst>
            <p14:sldId id="259"/>
            <p14:sldId id="260"/>
            <p14:sldId id="261"/>
          </p14:sldIdLst>
        </p14:section>
        <p14:section name="Design" id="{feb5908f-8fce-f667-3f45-797924be6065}">
          <p14:sldIdLst/>
        </p14:section>
        <p14:section name="Design" id="{4ed8f811-76c3-007f-b5be-37185c8b7370}">
          <p14:sldIdLst/>
        </p14:section>
        <p14:section name="Tools" id="{63d2d71f-9edf-927a-ba29-9ef233348568}">
          <p14:sldIdLst>
            <p14:sldId id="262"/>
            <p14:sldId id="263"/>
          </p14:sldIdLst>
        </p14:section>
        <p14:section name="Tools" id="{67e69712-940c-d566-531b-16754676c770}">
          <p14:sldIdLst/>
        </p14:section>
        <p14:section name="Demo" id="{b77d5ac5-b575-1025-02f6-592545edfdf7}">
          <p14:sldIdLst>
            <p14:sldId id="264"/>
          </p14:sldIdLst>
        </p14:section>
        <p14:section name="Quality" id="{ceb784a3-4c4f-4e2e-d5e6-28a8e0fe3f0f}">
          <p14:sldIdLst>
            <p14:sldId id="265"/>
            <p14:sldId id="266"/>
          </p14:sldIdLst>
        </p14:section>
        <p14:section name="Quality" id="{e267a2f1-f30d-4700-be39-bcccc1e8011c}">
          <p14:sldIdLst/>
        </p14:section>
        <p14:section name="Wrap-up" id="{d8078e8f-9e0b-4131-de51-126b33da898d}">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This is my Multi-Tool AI Assistant. It is a web app where you chat with an AI, and the AI can use seven different tools when it needs them: a calculator, Wikipedia, web search, weather, a database, YouTube, and Gmail. It is built with Python, LangGraph, Gemini 2.5 Flash and Flask. In the next few minutes I will show the idea, the architecture, and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Normally, to do these everyday tasks you jump between many apps. A calculator for math, a search engine for facts, a weather app, a database client, YouTube, and your email. This is slow and breaks your focus. A unified AI assistant lets you ask in plain language and lets the AI pick the right tool, even combining several tools in one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four goals. One: a single conversational interface. Two: connect seven specialized tools. Three: let the model choose a tool based on the user's question and the tool descriptions, instead of hard-coded rules. Four: deliver everything through a web application that anyone can open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is the language that connects everything. Gemini 2.5 Flash is the language model that understands the question and decides what to do. LangGraph builds the ReAct agent loop around the model. Flask is the web server. HTML, CSS and JavaScript make the browser chat page. SQLite is the small local database. External APIs such as Open-Meteo, the YouTube Data API and the Gmail API give the agent real-world 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request from left to right. The user types in the browser chat page built with HTML, CSS and JavaScript. The browser sends the message to the Flask app in app.py. Flask calls the LangGraph ReAct agent defined in agent/graph.py. The agent asks Gemini 2.5 Flash what to do. If a tool is needed, Gemini picks one of the seven tools, and the tool runs. The result goes back to the agent, which writes the final answer. Flask returns it as JSON and the browser displays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means Reason and Act. First the agent receives the question and interprets it. Then it decides whether a tool is required. This is important: the model does not always call a tool. For a simple question it can answer directly. If a tool is needed, the agent calls it, observes the result, and may repeat if more steps are needed. Finally it writes the answer. The model chooses based on the question and the description of each available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seven tools. One, Calculator: does math in Python. Two, Wikipedia: general reference facts. Three, Web Search: current information through DuckDuckGo. Four, Weather: current weather through Open-Meteo and other weather APIs. Five, SQL Query: SELECT queries against a local SQLite company database. Six, YouTube Search: finds videos using the YouTube Data API. Seven, Gmail Search: searches email using the Gmail API with OAuth and read-only access. Each tool has a short description, and Gemini uses those descriptions to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who does what. templates/index.html displays the chat page and sends the user's message. app.py is the Flask server: it receives the request and calls the agent. agent/graph.py sets up Gemini, registers the tools and builds the LangGraph ReAct agent. The tools folder holds one implementation per tool. The database folder contains the SQLite setup code. These file roles come from my project description; I would confirm them against the repository before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example, not real output. The user asks: what is 40 plus 20, and what is the weather in Chennai? The agent can break this into two parts. It may call the calculator for 40 plus 20, which is 60, and the weather tool for Chennai. Then it combines both observations into one answer. I am not showing real weather numbers here; in a live demo the weather tool would return current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matters when an app touches email and databases. API keys live in environment variables, not in code. The files .env, credentials.json and token.json must never be committed to a public repository, and .gitignore should exclude them along with virtual environments. Gmail uses read-only access. SQL queries should be restricted and validated so only SELECT is allowed. And external API errors or missing credentials should be handled safely instead of crashing the app. Please confirm each item against the code before publishing.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honest next steps, not features I have already built. Conversation memory across requests would let the assistant remember earlier turns. Better error handling and logging would help debugging. More tools and APIs would extend what it can do. Authentication and access control would protect the app. Cloud deployment would make it publicly available. Automated tests would make changes safer. I only describe these as future work unless the source code confirms they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one chat interface, seven tools, and a LangGraph ReAct agent powered by Gemini 2.5 Flash that decides when a tool is needed. For a live demo, follow the five steps on the right. Start with the calculator, then weather, then a database question, then YouTube or Gmail in read-only mode, and finish with a question that combines two tools. Do not show real keys, tokens, private emails, or confidential records on screen.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498080" cy="146304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3" name="Text 0"/>
          <p:cNvSpPr/>
          <p:nvPr>
            <p:ph idx="101" type="body" hasCustomPrompt="1"/>
          </p:nvPr>
        </p:nvSpPr>
        <p:spPr>
          <a:xfrm>
            <a:off x="822960" y="3474720"/>
            <a:ext cx="7132320" cy="822960"/>
          </a:xfrm>
          <a:prstGeom prst="rect">
            <a:avLst/>
          </a:prstGeom>
          <a:noFill/>
          <a:ln/>
        </p:spPr>
        <p:txBody>
          <a:bodyPr wrap="square" rtlCol="0"/>
          <a:lstStyle>
            <a:lvl1pPr indent="0" marL="0">
              <a:buNone/>
              <a:defRPr lang="en-US" sz="2200" dirty="0">
                <a:solidFill>
                  <a:schemeClr val="accent4"/>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Multi-Tool AI Assistant  |  Python · LangGraph · Gemini 2.5 Flash · Flask</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Multi-Tool AI Assistant  |  Python · LangGraph · Gemini 2.5 Flash · Flask</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0" type="title" hasCustomPrompt="1"/>
          </p:nvPr>
        </p:nvSpPr>
        <p:spPr>
          <a:xfrm>
            <a:off x="822960" y="1828800"/>
            <a:ext cx="7498080" cy="1463040"/>
          </a:xfrm>
          <a:prstGeom prst="rect">
            <a:avLst/>
          </a:prstGeom>
          <a:noFill/>
          <a:ln/>
        </p:spPr>
        <p:txBody>
          <a:bodyPr wrap="square" rtlCol="0" anchor="b"/>
          <a:lstStyle/>
          <a:p>
            <a:pPr indent="0" marL="0">
              <a:buNone/>
            </a:pPr>
            <a:r>
              <a:rPr lang="en-US" sz="5400" b="1" dirty="0">
                <a:solidFill>
                  <a:schemeClr val="bg1"/>
                </a:solidFill>
              </a:rPr>
              <a:t>Multi-Tool AI Assistant</a:t>
            </a:r>
            <a:endParaRPr lang="en-US" sz="5400" dirty="0"/>
          </a:p>
        </p:txBody>
      </p:sp>
      <p:sp>
        <p:nvSpPr>
          <p:cNvPr id="4" name="Text 0"/>
          <p:cNvSpPr/>
          <p:nvPr>
            <p:ph idx="101" type="body" hasCustomPrompt="1"/>
          </p:nvPr>
        </p:nvSpPr>
        <p:spPr>
          <a:xfrm>
            <a:off x="822960" y="3474720"/>
            <a:ext cx="7132320" cy="822960"/>
          </a:xfrm>
          <a:prstGeom prst="rect">
            <a:avLst/>
          </a:prstGeom>
          <a:noFill/>
          <a:ln/>
        </p:spPr>
        <p:txBody>
          <a:bodyPr wrap="square" rtlCol="0" anchor="t"/>
          <a:lstStyle/>
          <a:p>
            <a:pPr indent="0" marL="0">
              <a:buNone/>
            </a:pPr>
            <a:r>
              <a:rPr lang="en-US" sz="2200" dirty="0">
                <a:solidFill>
                  <a:schemeClr val="accent4"/>
                </a:solidFill>
              </a:rPr>
              <a:t>An AI Assistant with Tool-Calling Capabilities</a:t>
            </a:r>
            <a:endParaRPr lang="en-US" sz="2200" dirty="0"/>
          </a:p>
        </p:txBody>
      </p:sp>
      <p:sp>
        <p:nvSpPr>
          <p:cNvPr id="5" name="stack-chip-0"/>
          <p:cNvSpPr/>
          <p:nvPr/>
        </p:nvSpPr>
        <p:spPr>
          <a:xfrm>
            <a:off x="822960" y="4572000"/>
            <a:ext cx="1645920" cy="457200"/>
          </a:xfrm>
          <a:prstGeom prst="roundRect">
            <a:avLst>
              <a:gd name="adj" fmla="val 24000"/>
            </a:avLst>
          </a:prstGeom>
          <a:solidFill>
            <a:schemeClr val="accent1"/>
          </a:solidFill>
          <a:ln/>
        </p:spPr>
      </p:sp>
      <p:sp>
        <p:nvSpPr>
          <p:cNvPr id="6" name="Text 3"/>
          <p:cNvSpPr txBox="1"/>
          <p:nvPr/>
        </p:nvSpPr>
        <p:spPr>
          <a:xfrm>
            <a:off x="822960" y="4572000"/>
            <a:ext cx="1645920" cy="457200"/>
          </a:xfrm>
          <a:prstGeom prst="rect">
            <a:avLst/>
          </a:prstGeom>
          <a:noFill/>
          <a:ln/>
        </p:spPr>
        <p:txBody>
          <a:bodyPr wrap="square" lIns="0" tIns="0" rIns="0" bIns="0" rtlCol="0" anchor="ctr"/>
          <a:lstStyle/>
          <a:p>
            <a:pPr algn="ctr" indent="0" marL="0">
              <a:buNone/>
            </a:pPr>
            <a:r>
              <a:rPr lang="en-US" sz="1400" b="1" dirty="0">
                <a:solidFill>
                  <a:schemeClr val="bg1"/>
                </a:solidFill>
              </a:rPr>
              <a:t>Python</a:t>
            </a:r>
            <a:endParaRPr lang="en-US" sz="1400" dirty="0"/>
          </a:p>
        </p:txBody>
      </p:sp>
      <p:sp>
        <p:nvSpPr>
          <p:cNvPr id="7" name="stack-chip-1"/>
          <p:cNvSpPr/>
          <p:nvPr/>
        </p:nvSpPr>
        <p:spPr>
          <a:xfrm>
            <a:off x="2606040" y="4572000"/>
            <a:ext cx="1645920" cy="457200"/>
          </a:xfrm>
          <a:prstGeom prst="roundRect">
            <a:avLst>
              <a:gd name="adj" fmla="val 24000"/>
            </a:avLst>
          </a:prstGeom>
          <a:solidFill>
            <a:schemeClr val="accent1"/>
          </a:solidFill>
          <a:ln/>
        </p:spPr>
      </p:sp>
      <p:sp>
        <p:nvSpPr>
          <p:cNvPr id="8" name="Text 5"/>
          <p:cNvSpPr txBox="1"/>
          <p:nvPr/>
        </p:nvSpPr>
        <p:spPr>
          <a:xfrm>
            <a:off x="2606040" y="4572000"/>
            <a:ext cx="1645920" cy="457200"/>
          </a:xfrm>
          <a:prstGeom prst="rect">
            <a:avLst/>
          </a:prstGeom>
          <a:noFill/>
          <a:ln/>
        </p:spPr>
        <p:txBody>
          <a:bodyPr wrap="square" lIns="0" tIns="0" rIns="0" bIns="0" rtlCol="0" anchor="ctr"/>
          <a:lstStyle/>
          <a:p>
            <a:pPr algn="ctr" indent="0" marL="0">
              <a:buNone/>
            </a:pPr>
            <a:r>
              <a:rPr lang="en-US" sz="1400" b="1" dirty="0">
                <a:solidFill>
                  <a:schemeClr val="bg1"/>
                </a:solidFill>
              </a:rPr>
              <a:t>LangGraph</a:t>
            </a:r>
            <a:endParaRPr lang="en-US" sz="1400" dirty="0"/>
          </a:p>
        </p:txBody>
      </p:sp>
      <p:sp>
        <p:nvSpPr>
          <p:cNvPr id="9" name="stack-chip-2"/>
          <p:cNvSpPr/>
          <p:nvPr/>
        </p:nvSpPr>
        <p:spPr>
          <a:xfrm>
            <a:off x="4389120" y="4572000"/>
            <a:ext cx="1645920" cy="457200"/>
          </a:xfrm>
          <a:prstGeom prst="roundRect">
            <a:avLst>
              <a:gd name="adj" fmla="val 24000"/>
            </a:avLst>
          </a:prstGeom>
          <a:solidFill>
            <a:schemeClr val="accent1"/>
          </a:solidFill>
          <a:ln/>
        </p:spPr>
      </p:sp>
      <p:sp>
        <p:nvSpPr>
          <p:cNvPr id="10" name="Text 7"/>
          <p:cNvSpPr txBox="1"/>
          <p:nvPr/>
        </p:nvSpPr>
        <p:spPr>
          <a:xfrm>
            <a:off x="4389120" y="4572000"/>
            <a:ext cx="1645920" cy="457200"/>
          </a:xfrm>
          <a:prstGeom prst="rect">
            <a:avLst/>
          </a:prstGeom>
          <a:noFill/>
          <a:ln/>
        </p:spPr>
        <p:txBody>
          <a:bodyPr wrap="square" lIns="0" tIns="0" rIns="0" bIns="0" rtlCol="0" anchor="ctr"/>
          <a:lstStyle/>
          <a:p>
            <a:pPr algn="ctr" indent="0" marL="0">
              <a:buNone/>
            </a:pPr>
            <a:r>
              <a:rPr lang="en-US" sz="1400" b="1" dirty="0">
                <a:solidFill>
                  <a:schemeClr val="bg1"/>
                </a:solidFill>
              </a:rPr>
              <a:t>Gemini 2.5 Flash</a:t>
            </a:r>
            <a:endParaRPr lang="en-US" sz="1400" dirty="0"/>
          </a:p>
        </p:txBody>
      </p:sp>
      <p:sp>
        <p:nvSpPr>
          <p:cNvPr id="11" name="stack-chip-3"/>
          <p:cNvSpPr/>
          <p:nvPr/>
        </p:nvSpPr>
        <p:spPr>
          <a:xfrm>
            <a:off x="6172200" y="4572000"/>
            <a:ext cx="1645920" cy="457200"/>
          </a:xfrm>
          <a:prstGeom prst="roundRect">
            <a:avLst>
              <a:gd name="adj" fmla="val 24000"/>
            </a:avLst>
          </a:prstGeom>
          <a:solidFill>
            <a:schemeClr val="accent1"/>
          </a:solidFill>
          <a:ln/>
        </p:spPr>
      </p:sp>
      <p:sp>
        <p:nvSpPr>
          <p:cNvPr id="12" name="Text 9"/>
          <p:cNvSpPr txBox="1"/>
          <p:nvPr/>
        </p:nvSpPr>
        <p:spPr>
          <a:xfrm>
            <a:off x="6172200" y="4572000"/>
            <a:ext cx="1645920" cy="457200"/>
          </a:xfrm>
          <a:prstGeom prst="rect">
            <a:avLst/>
          </a:prstGeom>
          <a:noFill/>
          <a:ln/>
        </p:spPr>
        <p:txBody>
          <a:bodyPr wrap="square" lIns="0" tIns="0" rIns="0" bIns="0" rtlCol="0" anchor="ctr"/>
          <a:lstStyle/>
          <a:p>
            <a:pPr algn="ctr" indent="0" marL="0">
              <a:buNone/>
            </a:pPr>
            <a:r>
              <a:rPr lang="en-US" sz="1400" b="1" dirty="0">
                <a:solidFill>
                  <a:schemeClr val="bg1"/>
                </a:solidFill>
              </a:rPr>
              <a:t>Flask</a:t>
            </a:r>
            <a:endParaRPr lang="en-US" sz="1400" dirty="0"/>
          </a:p>
        </p:txBody>
      </p:sp>
      <p:sp>
        <p:nvSpPr>
          <p:cNvPr id="13" name="motif-0"/>
          <p:cNvSpPr/>
          <p:nvPr/>
        </p:nvSpPr>
        <p:spPr>
          <a:xfrm>
            <a:off x="8778240" y="1097280"/>
            <a:ext cx="4023360" cy="4023360"/>
          </a:xfrm>
          <a:prstGeom prst="ellipse">
            <a:avLst/>
          </a:prstGeom>
          <a:solidFill>
            <a:schemeClr val="accent1">
              <a:alpha val="30000"/>
            </a:schemeClr>
          </a:solidFill>
          <a:ln/>
        </p:spPr>
      </p:sp>
      <p:sp>
        <p:nvSpPr>
          <p:cNvPr id="14" name="motif-1"/>
          <p:cNvSpPr/>
          <p:nvPr/>
        </p:nvSpPr>
        <p:spPr>
          <a:xfrm>
            <a:off x="9875520" y="2560320"/>
            <a:ext cx="3108960" cy="3108960"/>
          </a:xfrm>
          <a:prstGeom prst="ellipse">
            <a:avLst/>
          </a:prstGeom>
          <a:solidFill>
            <a:schemeClr val="accent2">
              <a:alpha val="40000"/>
            </a:schemeClr>
          </a:solidFill>
          <a:ln/>
        </p:spPr>
      </p:sp>
      <p:sp>
        <p:nvSpPr>
          <p:cNvPr id="15" name="motif-2"/>
          <p:cNvSpPr/>
          <p:nvPr/>
        </p:nvSpPr>
        <p:spPr>
          <a:xfrm>
            <a:off x="8412480" y="3840480"/>
            <a:ext cx="2560320" cy="2560320"/>
          </a:xfrm>
          <a:prstGeom prst="ellipse">
            <a:avLst/>
          </a:prstGeom>
          <a:solidFill>
            <a:schemeClr val="accent3">
              <a:alpha val="50000"/>
            </a:schemeClr>
          </a:solidFill>
          <a:ln/>
        </p:spPr>
      </p:sp>
      <p:sp>
        <p:nvSpPr>
          <p:cNvPr id="16" name="Text 13"/>
          <p:cNvSpPr txBox="1"/>
          <p:nvPr/>
        </p:nvSpPr>
        <p:spPr>
          <a:xfrm>
            <a:off x="822960" y="6035040"/>
            <a:ext cx="5486400" cy="274320"/>
          </a:xfrm>
          <a:prstGeom prst="rect">
            <a:avLst/>
          </a:prstGeom>
          <a:noFill/>
          <a:ln/>
        </p:spPr>
        <p:txBody>
          <a:bodyPr wrap="square" lIns="0" tIns="0" rIns="0" bIns="0" rtlCol="0" anchor="t"/>
          <a:lstStyle/>
          <a:p>
            <a:pPr indent="0" marL="0">
              <a:buNone/>
            </a:pPr>
            <a:r>
              <a:rPr lang="en-US" sz="1200" dirty="0">
                <a:solidFill>
                  <a:schemeClr val="accent5"/>
                </a:solidFill>
              </a:rPr>
              <a:t>Technical project walkthrough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The Problem: Too Many Separate Apps</a:t>
            </a:r>
            <a:endParaRPr lang="en-US" sz="3400" dirty="0"/>
          </a:p>
        </p:txBody>
      </p:sp>
      <p:sp>
        <p:nvSpPr>
          <p:cNvPr id="4" name="Text 1"/>
          <p:cNvSpPr txBox="1"/>
          <p:nvPr/>
        </p:nvSpPr>
        <p:spPr>
          <a:xfrm>
            <a:off x="548640" y="1371600"/>
            <a:ext cx="5029200" cy="365760"/>
          </a:xfrm>
          <a:prstGeom prst="rect">
            <a:avLst/>
          </a:prstGeom>
          <a:noFill/>
          <a:ln/>
        </p:spPr>
        <p:txBody>
          <a:bodyPr wrap="square" lIns="0" tIns="0" rIns="0" bIns="0" rtlCol="0" anchor="t"/>
          <a:lstStyle/>
          <a:p>
            <a:pPr indent="0" marL="0">
              <a:buNone/>
            </a:pPr>
            <a:r>
              <a:rPr lang="en-US" sz="1800" b="1" dirty="0">
                <a:solidFill>
                  <a:schemeClr val="accent3"/>
                </a:solidFill>
              </a:rPr>
              <a:t>Today: one app per task</a:t>
            </a:r>
            <a:endParaRPr lang="en-US" sz="1800" dirty="0"/>
          </a:p>
        </p:txBody>
      </p:sp>
      <p:sp>
        <p:nvSpPr>
          <p:cNvPr id="5" name="pill-0"/>
          <p:cNvSpPr/>
          <p:nvPr/>
        </p:nvSpPr>
        <p:spPr>
          <a:xfrm>
            <a:off x="548640" y="1920240"/>
            <a:ext cx="2423160" cy="713232"/>
          </a:xfrm>
          <a:prstGeom prst="roundRect">
            <a:avLst>
              <a:gd name="adj" fmla="val 15385"/>
            </a:avLst>
          </a:prstGeom>
          <a:solidFill>
            <a:schemeClr val="bg2"/>
          </a:solidFill>
          <a:ln/>
        </p:spPr>
      </p:sp>
      <p:sp>
        <p:nvSpPr>
          <p:cNvPr id="6" name="Text 3"/>
          <p:cNvSpPr txBox="1"/>
          <p:nvPr/>
        </p:nvSpPr>
        <p:spPr>
          <a:xfrm>
            <a:off x="548640" y="1920240"/>
            <a:ext cx="2423160" cy="713232"/>
          </a:xfrm>
          <a:prstGeom prst="rect">
            <a:avLst/>
          </a:prstGeom>
          <a:noFill/>
          <a:ln/>
        </p:spPr>
        <p:txBody>
          <a:bodyPr wrap="square" lIns="0" tIns="0" rIns="0" bIns="0" rtlCol="0" anchor="ctr"/>
          <a:lstStyle/>
          <a:p>
            <a:pPr algn="ctr" indent="0" marL="0">
              <a:buNone/>
            </a:pPr>
            <a:r>
              <a:rPr lang="en-US" sz="1600" b="1" dirty="0">
                <a:solidFill>
                  <a:schemeClr val="tx2"/>
                </a:solidFill>
              </a:rPr>
              <a:t>Calculator app</a:t>
            </a:r>
            <a:endParaRPr lang="en-US" sz="1600" dirty="0"/>
          </a:p>
        </p:txBody>
      </p:sp>
      <p:sp>
        <p:nvSpPr>
          <p:cNvPr id="7" name="pill-1"/>
          <p:cNvSpPr/>
          <p:nvPr/>
        </p:nvSpPr>
        <p:spPr>
          <a:xfrm>
            <a:off x="3154680" y="1920240"/>
            <a:ext cx="2423160" cy="713232"/>
          </a:xfrm>
          <a:prstGeom prst="roundRect">
            <a:avLst>
              <a:gd name="adj" fmla="val 15385"/>
            </a:avLst>
          </a:prstGeom>
          <a:solidFill>
            <a:schemeClr val="bg2"/>
          </a:solidFill>
          <a:ln/>
        </p:spPr>
      </p:sp>
      <p:sp>
        <p:nvSpPr>
          <p:cNvPr id="8" name="Text 5"/>
          <p:cNvSpPr txBox="1"/>
          <p:nvPr/>
        </p:nvSpPr>
        <p:spPr>
          <a:xfrm>
            <a:off x="3154680" y="1920240"/>
            <a:ext cx="2423160" cy="713232"/>
          </a:xfrm>
          <a:prstGeom prst="rect">
            <a:avLst/>
          </a:prstGeom>
          <a:noFill/>
          <a:ln/>
        </p:spPr>
        <p:txBody>
          <a:bodyPr wrap="square" lIns="0" tIns="0" rIns="0" bIns="0" rtlCol="0" anchor="ctr"/>
          <a:lstStyle/>
          <a:p>
            <a:pPr algn="ctr" indent="0" marL="0">
              <a:buNone/>
            </a:pPr>
            <a:r>
              <a:rPr lang="en-US" sz="1600" b="1" dirty="0">
                <a:solidFill>
                  <a:schemeClr val="tx2"/>
                </a:solidFill>
              </a:rPr>
              <a:t>Search engine</a:t>
            </a:r>
            <a:endParaRPr lang="en-US" sz="1600" dirty="0"/>
          </a:p>
        </p:txBody>
      </p:sp>
      <p:sp>
        <p:nvSpPr>
          <p:cNvPr id="9" name="pill-2"/>
          <p:cNvSpPr/>
          <p:nvPr/>
        </p:nvSpPr>
        <p:spPr>
          <a:xfrm>
            <a:off x="548640" y="2834640"/>
            <a:ext cx="2423160" cy="713232"/>
          </a:xfrm>
          <a:prstGeom prst="roundRect">
            <a:avLst>
              <a:gd name="adj" fmla="val 15385"/>
            </a:avLst>
          </a:prstGeom>
          <a:solidFill>
            <a:schemeClr val="bg2"/>
          </a:solidFill>
          <a:ln/>
        </p:spPr>
      </p:sp>
      <p:sp>
        <p:nvSpPr>
          <p:cNvPr id="10" name="Text 7"/>
          <p:cNvSpPr txBox="1"/>
          <p:nvPr/>
        </p:nvSpPr>
        <p:spPr>
          <a:xfrm>
            <a:off x="548640" y="2834640"/>
            <a:ext cx="2423160" cy="713232"/>
          </a:xfrm>
          <a:prstGeom prst="rect">
            <a:avLst/>
          </a:prstGeom>
          <a:noFill/>
          <a:ln/>
        </p:spPr>
        <p:txBody>
          <a:bodyPr wrap="square" lIns="0" tIns="0" rIns="0" bIns="0" rtlCol="0" anchor="ctr"/>
          <a:lstStyle/>
          <a:p>
            <a:pPr algn="ctr" indent="0" marL="0">
              <a:buNone/>
            </a:pPr>
            <a:r>
              <a:rPr lang="en-US" sz="1600" b="1" dirty="0">
                <a:solidFill>
                  <a:schemeClr val="tx2"/>
                </a:solidFill>
              </a:rPr>
              <a:t>Weather app</a:t>
            </a:r>
            <a:endParaRPr lang="en-US" sz="1600" dirty="0"/>
          </a:p>
        </p:txBody>
      </p:sp>
      <p:sp>
        <p:nvSpPr>
          <p:cNvPr id="11" name="pill-3"/>
          <p:cNvSpPr/>
          <p:nvPr/>
        </p:nvSpPr>
        <p:spPr>
          <a:xfrm>
            <a:off x="3154680" y="2834640"/>
            <a:ext cx="2423160" cy="713232"/>
          </a:xfrm>
          <a:prstGeom prst="roundRect">
            <a:avLst>
              <a:gd name="adj" fmla="val 15385"/>
            </a:avLst>
          </a:prstGeom>
          <a:solidFill>
            <a:schemeClr val="bg2"/>
          </a:solidFill>
          <a:ln/>
        </p:spPr>
      </p:sp>
      <p:sp>
        <p:nvSpPr>
          <p:cNvPr id="12" name="Text 9"/>
          <p:cNvSpPr txBox="1"/>
          <p:nvPr/>
        </p:nvSpPr>
        <p:spPr>
          <a:xfrm>
            <a:off x="3154680" y="2834640"/>
            <a:ext cx="2423160" cy="713232"/>
          </a:xfrm>
          <a:prstGeom prst="rect">
            <a:avLst/>
          </a:prstGeom>
          <a:noFill/>
          <a:ln/>
        </p:spPr>
        <p:txBody>
          <a:bodyPr wrap="square" lIns="0" tIns="0" rIns="0" bIns="0" rtlCol="0" anchor="ctr"/>
          <a:lstStyle/>
          <a:p>
            <a:pPr algn="ctr" indent="0" marL="0">
              <a:buNone/>
            </a:pPr>
            <a:r>
              <a:rPr lang="en-US" sz="1600" b="1" dirty="0">
                <a:solidFill>
                  <a:schemeClr val="tx2"/>
                </a:solidFill>
              </a:rPr>
              <a:t>Database client</a:t>
            </a:r>
            <a:endParaRPr lang="en-US" sz="1600" dirty="0"/>
          </a:p>
        </p:txBody>
      </p:sp>
      <p:sp>
        <p:nvSpPr>
          <p:cNvPr id="13" name="pill-4"/>
          <p:cNvSpPr/>
          <p:nvPr/>
        </p:nvSpPr>
        <p:spPr>
          <a:xfrm>
            <a:off x="548640" y="3749040"/>
            <a:ext cx="2423160" cy="713232"/>
          </a:xfrm>
          <a:prstGeom prst="roundRect">
            <a:avLst>
              <a:gd name="adj" fmla="val 15385"/>
            </a:avLst>
          </a:prstGeom>
          <a:solidFill>
            <a:schemeClr val="bg2"/>
          </a:solidFill>
          <a:ln/>
        </p:spPr>
      </p:sp>
      <p:sp>
        <p:nvSpPr>
          <p:cNvPr id="14" name="Text 11"/>
          <p:cNvSpPr txBox="1"/>
          <p:nvPr/>
        </p:nvSpPr>
        <p:spPr>
          <a:xfrm>
            <a:off x="548640" y="3749040"/>
            <a:ext cx="2423160" cy="713232"/>
          </a:xfrm>
          <a:prstGeom prst="rect">
            <a:avLst/>
          </a:prstGeom>
          <a:noFill/>
          <a:ln/>
        </p:spPr>
        <p:txBody>
          <a:bodyPr wrap="square" lIns="0" tIns="0" rIns="0" bIns="0" rtlCol="0" anchor="ctr"/>
          <a:lstStyle/>
          <a:p>
            <a:pPr algn="ctr" indent="0" marL="0">
              <a:buNone/>
            </a:pPr>
            <a:r>
              <a:rPr lang="en-US" sz="1600" b="1" dirty="0">
                <a:solidFill>
                  <a:schemeClr val="tx2"/>
                </a:solidFill>
              </a:rPr>
              <a:t>YouTube</a:t>
            </a:r>
            <a:endParaRPr lang="en-US" sz="1600" dirty="0"/>
          </a:p>
        </p:txBody>
      </p:sp>
      <p:sp>
        <p:nvSpPr>
          <p:cNvPr id="15" name="pill-5"/>
          <p:cNvSpPr/>
          <p:nvPr/>
        </p:nvSpPr>
        <p:spPr>
          <a:xfrm>
            <a:off x="3154680" y="3749040"/>
            <a:ext cx="2423160" cy="713232"/>
          </a:xfrm>
          <a:prstGeom prst="roundRect">
            <a:avLst>
              <a:gd name="adj" fmla="val 15385"/>
            </a:avLst>
          </a:prstGeom>
          <a:solidFill>
            <a:schemeClr val="bg2"/>
          </a:solidFill>
          <a:ln/>
        </p:spPr>
      </p:sp>
      <p:sp>
        <p:nvSpPr>
          <p:cNvPr id="16" name="Text 13"/>
          <p:cNvSpPr txBox="1"/>
          <p:nvPr/>
        </p:nvSpPr>
        <p:spPr>
          <a:xfrm>
            <a:off x="3154680" y="3749040"/>
            <a:ext cx="2423160" cy="713232"/>
          </a:xfrm>
          <a:prstGeom prst="rect">
            <a:avLst/>
          </a:prstGeom>
          <a:noFill/>
          <a:ln/>
        </p:spPr>
        <p:txBody>
          <a:bodyPr wrap="square" lIns="0" tIns="0" rIns="0" bIns="0" rtlCol="0" anchor="ctr"/>
          <a:lstStyle/>
          <a:p>
            <a:pPr algn="ctr" indent="0" marL="0">
              <a:buNone/>
            </a:pPr>
            <a:r>
              <a:rPr lang="en-US" sz="1600" b="1" dirty="0">
                <a:solidFill>
                  <a:schemeClr val="tx2"/>
                </a:solidFill>
              </a:rPr>
              <a:t>Email inbox</a:t>
            </a:r>
            <a:endParaRPr lang="en-US" sz="1600" dirty="0"/>
          </a:p>
        </p:txBody>
      </p:sp>
      <p:sp>
        <p:nvSpPr>
          <p:cNvPr id="17" name="Shape 14"/>
          <p:cNvSpPr/>
          <p:nvPr/>
        </p:nvSpPr>
        <p:spPr>
          <a:xfrm>
            <a:off x="5760720" y="3154680"/>
            <a:ext cx="822960" cy="0"/>
          </a:xfrm>
          <a:prstGeom prst="line">
            <a:avLst/>
          </a:prstGeom>
          <a:noFill/>
          <a:ln w="25400">
            <a:solidFill>
              <a:schemeClr val="accent1"/>
            </a:solidFill>
            <a:prstDash val="solid"/>
            <a:tailEnd type="triangle"/>
          </a:ln>
        </p:spPr>
      </p:sp>
      <p:sp>
        <p:nvSpPr>
          <p:cNvPr id="18" name="assistant-card"/>
          <p:cNvSpPr/>
          <p:nvPr/>
        </p:nvSpPr>
        <p:spPr>
          <a:xfrm>
            <a:off x="6766560" y="1920240"/>
            <a:ext cx="4846320" cy="2542032"/>
          </a:xfrm>
          <a:prstGeom prst="roundRect">
            <a:avLst>
              <a:gd name="adj" fmla="val 4317"/>
            </a:avLst>
          </a:prstGeom>
          <a:solidFill>
            <a:schemeClr val="accent2"/>
          </a:solidFill>
          <a:ln/>
        </p:spPr>
      </p:sp>
      <p:sp>
        <p:nvSpPr>
          <p:cNvPr id="19" name="Text 16"/>
          <p:cNvSpPr txBox="1"/>
          <p:nvPr/>
        </p:nvSpPr>
        <p:spPr>
          <a:xfrm>
            <a:off x="7040880" y="2194560"/>
            <a:ext cx="4297680" cy="822960"/>
          </a:xfrm>
          <a:prstGeom prst="rect">
            <a:avLst/>
          </a:prstGeom>
          <a:noFill/>
          <a:ln/>
        </p:spPr>
        <p:txBody>
          <a:bodyPr wrap="square" lIns="0" tIns="0" rIns="0" bIns="0" rtlCol="0" anchor="t"/>
          <a:lstStyle/>
          <a:p>
            <a:pPr indent="0" marL="0">
              <a:buNone/>
            </a:pPr>
            <a:r>
              <a:rPr lang="en-US" sz="2600" b="1" dirty="0">
                <a:solidFill>
                  <a:schemeClr val="bg1"/>
                </a:solidFill>
                <a:latin typeface="Cambria" pitchFamily="34" charset="0"/>
                <a:ea typeface="Cambria" pitchFamily="34" charset="-122"/>
                <a:cs typeface="Cambria" pitchFamily="34" charset="-120"/>
              </a:rPr>
              <a:t>One Multi-Tool AI Assistant</a:t>
            </a:r>
            <a:endParaRPr lang="en-US" sz="2600" dirty="0"/>
          </a:p>
        </p:txBody>
      </p:sp>
      <p:sp>
        <p:nvSpPr>
          <p:cNvPr id="20" name="Text 17"/>
          <p:cNvSpPr txBox="1"/>
          <p:nvPr/>
        </p:nvSpPr>
        <p:spPr>
          <a:xfrm>
            <a:off x="7040880" y="3154680"/>
            <a:ext cx="4297680" cy="1005840"/>
          </a:xfrm>
          <a:prstGeom prst="rect">
            <a:avLst/>
          </a:prstGeom>
          <a:noFill/>
          <a:ln/>
        </p:spPr>
        <p:txBody>
          <a:bodyPr wrap="square" lIns="0" tIns="0" rIns="0" bIns="0" rtlCol="0" anchor="t"/>
          <a:lstStyle/>
          <a:p>
            <a:pPr indent="0" marL="0">
              <a:buNone/>
            </a:pPr>
            <a:r>
              <a:rPr lang="en-US" sz="1800" dirty="0">
                <a:solidFill>
                  <a:schemeClr val="bg1"/>
                </a:solidFill>
              </a:rPr>
              <a:t>Ask in plain language. The agent picks the right tool for each part of the question.</a:t>
            </a:r>
            <a:endParaRPr lang="en-US" sz="1800" dirty="0"/>
          </a:p>
        </p:txBody>
      </p:sp>
      <p:sp>
        <p:nvSpPr>
          <p:cNvPr id="21" name="benefit-0"/>
          <p:cNvSpPr/>
          <p:nvPr/>
        </p:nvSpPr>
        <p:spPr>
          <a:xfrm>
            <a:off x="548640" y="5029200"/>
            <a:ext cx="3566160" cy="777240"/>
          </a:xfrm>
          <a:prstGeom prst="roundRect">
            <a:avLst>
              <a:gd name="adj" fmla="val 14118"/>
            </a:avLst>
          </a:prstGeom>
          <a:solidFill>
            <a:schemeClr val="tx2"/>
          </a:solidFill>
          <a:ln/>
        </p:spPr>
      </p:sp>
      <p:sp>
        <p:nvSpPr>
          <p:cNvPr id="22" name="Text 19"/>
          <p:cNvSpPr txBox="1"/>
          <p:nvPr/>
        </p:nvSpPr>
        <p:spPr>
          <a:xfrm>
            <a:off x="548640" y="5029200"/>
            <a:ext cx="3566160" cy="777240"/>
          </a:xfrm>
          <a:prstGeom prst="rect">
            <a:avLst/>
          </a:prstGeom>
          <a:noFill/>
          <a:ln/>
        </p:spPr>
        <p:txBody>
          <a:bodyPr wrap="square" lIns="0" tIns="0" rIns="0" bIns="0" rtlCol="0" anchor="ctr"/>
          <a:lstStyle/>
          <a:p>
            <a:pPr algn="ctr" indent="0" marL="0">
              <a:buNone/>
            </a:pPr>
            <a:r>
              <a:rPr lang="en-US" sz="1600" b="1" dirty="0">
                <a:solidFill>
                  <a:schemeClr val="bg1"/>
                </a:solidFill>
              </a:rPr>
              <a:t>Less app switching</a:t>
            </a:r>
            <a:endParaRPr lang="en-US" sz="1600" dirty="0"/>
          </a:p>
        </p:txBody>
      </p:sp>
      <p:sp>
        <p:nvSpPr>
          <p:cNvPr id="23" name="benefit-1"/>
          <p:cNvSpPr/>
          <p:nvPr/>
        </p:nvSpPr>
        <p:spPr>
          <a:xfrm>
            <a:off x="4297680" y="5029200"/>
            <a:ext cx="3566160" cy="777240"/>
          </a:xfrm>
          <a:prstGeom prst="roundRect">
            <a:avLst>
              <a:gd name="adj" fmla="val 14118"/>
            </a:avLst>
          </a:prstGeom>
          <a:solidFill>
            <a:schemeClr val="tx2"/>
          </a:solidFill>
          <a:ln/>
        </p:spPr>
      </p:sp>
      <p:sp>
        <p:nvSpPr>
          <p:cNvPr id="24" name="Text 21"/>
          <p:cNvSpPr txBox="1"/>
          <p:nvPr/>
        </p:nvSpPr>
        <p:spPr>
          <a:xfrm>
            <a:off x="4297680" y="5029200"/>
            <a:ext cx="3566160" cy="777240"/>
          </a:xfrm>
          <a:prstGeom prst="rect">
            <a:avLst/>
          </a:prstGeom>
          <a:noFill/>
          <a:ln/>
        </p:spPr>
        <p:txBody>
          <a:bodyPr wrap="square" lIns="0" tIns="0" rIns="0" bIns="0" rtlCol="0" anchor="ctr"/>
          <a:lstStyle/>
          <a:p>
            <a:pPr algn="ctr" indent="0" marL="0">
              <a:buNone/>
            </a:pPr>
            <a:r>
              <a:rPr lang="en-US" sz="1600" b="1" dirty="0">
                <a:solidFill>
                  <a:schemeClr val="bg1"/>
                </a:solidFill>
              </a:rPr>
              <a:t>Natural-language access</a:t>
            </a:r>
            <a:endParaRPr lang="en-US" sz="1600" dirty="0"/>
          </a:p>
        </p:txBody>
      </p:sp>
      <p:sp>
        <p:nvSpPr>
          <p:cNvPr id="25" name="benefit-2"/>
          <p:cNvSpPr/>
          <p:nvPr/>
        </p:nvSpPr>
        <p:spPr>
          <a:xfrm>
            <a:off x="8046720" y="5029200"/>
            <a:ext cx="3566160" cy="777240"/>
          </a:xfrm>
          <a:prstGeom prst="roundRect">
            <a:avLst>
              <a:gd name="adj" fmla="val 14118"/>
            </a:avLst>
          </a:prstGeom>
          <a:solidFill>
            <a:schemeClr val="tx2"/>
          </a:solidFill>
          <a:ln/>
        </p:spPr>
      </p:sp>
      <p:sp>
        <p:nvSpPr>
          <p:cNvPr id="26" name="Text 23"/>
          <p:cNvSpPr txBox="1"/>
          <p:nvPr/>
        </p:nvSpPr>
        <p:spPr>
          <a:xfrm>
            <a:off x="8046720" y="5029200"/>
            <a:ext cx="3566160" cy="777240"/>
          </a:xfrm>
          <a:prstGeom prst="rect">
            <a:avLst/>
          </a:prstGeom>
          <a:noFill/>
          <a:ln/>
        </p:spPr>
        <p:txBody>
          <a:bodyPr wrap="square" lIns="0" tIns="0" rIns="0" bIns="0" rtlCol="0" anchor="ctr"/>
          <a:lstStyle/>
          <a:p>
            <a:pPr algn="ctr" indent="0" marL="0">
              <a:buNone/>
            </a:pPr>
            <a:r>
              <a:rPr lang="en-US" sz="1600" b="1" dirty="0">
                <a:solidFill>
                  <a:schemeClr val="bg1"/>
                </a:solidFill>
              </a:rPr>
              <a:t>Tools combined in one answer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Project Objectives</a:t>
            </a:r>
            <a:endParaRPr lang="en-US" sz="3400" dirty="0"/>
          </a:p>
        </p:txBody>
      </p:sp>
      <p:sp>
        <p:nvSpPr>
          <p:cNvPr id="4" name="obj-card-0"/>
          <p:cNvSpPr/>
          <p:nvPr/>
        </p:nvSpPr>
        <p:spPr>
          <a:xfrm>
            <a:off x="548640" y="1554480"/>
            <a:ext cx="2606040" cy="3291840"/>
          </a:xfrm>
          <a:prstGeom prst="roundRect">
            <a:avLst>
              <a:gd name="adj" fmla="val 4211"/>
            </a:avLst>
          </a:prstGeom>
          <a:solidFill>
            <a:schemeClr val="bg2"/>
          </a:solidFill>
          <a:ln/>
        </p:spPr>
      </p:sp>
      <p:sp>
        <p:nvSpPr>
          <p:cNvPr id="5" name="Shape 2"/>
          <p:cNvSpPr/>
          <p:nvPr/>
        </p:nvSpPr>
        <p:spPr>
          <a:xfrm>
            <a:off x="822960" y="1828800"/>
            <a:ext cx="731520" cy="731520"/>
          </a:xfrm>
          <a:prstGeom prst="ellipse">
            <a:avLst/>
          </a:prstGeom>
          <a:solidFill>
            <a:schemeClr val="accent1"/>
          </a:solidFill>
          <a:ln/>
        </p:spPr>
      </p:sp>
      <p:sp>
        <p:nvSpPr>
          <p:cNvPr id="6" name="Text 3"/>
          <p:cNvSpPr txBox="1"/>
          <p:nvPr/>
        </p:nvSpPr>
        <p:spPr>
          <a:xfrm>
            <a:off x="822960" y="18288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7" name="Text 4"/>
          <p:cNvSpPr txBox="1"/>
          <p:nvPr/>
        </p:nvSpPr>
        <p:spPr>
          <a:xfrm>
            <a:off x="822960" y="2834640"/>
            <a:ext cx="2103120" cy="822960"/>
          </a:xfrm>
          <a:prstGeom prst="rect">
            <a:avLst/>
          </a:prstGeom>
          <a:noFill/>
          <a:ln/>
        </p:spPr>
        <p:txBody>
          <a:bodyPr wrap="square" lIns="0" tIns="0" rIns="0" bIns="0" rtlCol="0" anchor="t"/>
          <a:lstStyle/>
          <a:p>
            <a:pPr indent="0" marL="0">
              <a:buNone/>
            </a:pPr>
            <a:r>
              <a:rPr lang="en-US" sz="1800" b="1" dirty="0">
                <a:solidFill>
                  <a:schemeClr val="tx2"/>
                </a:solidFill>
              </a:rPr>
              <a:t>Unified chat interface</a:t>
            </a:r>
            <a:endParaRPr lang="en-US" sz="1800" dirty="0"/>
          </a:p>
        </p:txBody>
      </p:sp>
      <p:sp>
        <p:nvSpPr>
          <p:cNvPr id="8" name="Text 5"/>
          <p:cNvSpPr txBox="1"/>
          <p:nvPr/>
        </p:nvSpPr>
        <p:spPr>
          <a:xfrm>
            <a:off x="822960" y="3657600"/>
            <a:ext cx="2103120" cy="1005840"/>
          </a:xfrm>
          <a:prstGeom prst="rect">
            <a:avLst/>
          </a:prstGeom>
          <a:noFill/>
          <a:ln/>
        </p:spPr>
        <p:txBody>
          <a:bodyPr wrap="square" lIns="0" tIns="0" rIns="0" bIns="0" rtlCol="0" anchor="t"/>
          <a:lstStyle/>
          <a:p>
            <a:pPr indent="0" marL="0">
              <a:buNone/>
            </a:pPr>
            <a:r>
              <a:rPr lang="en-US" sz="1400" dirty="0">
                <a:solidFill>
                  <a:schemeClr val="tx1"/>
                </a:solidFill>
              </a:rPr>
              <a:t>One conversational place for many tasks</a:t>
            </a:r>
            <a:endParaRPr lang="en-US" sz="1400" dirty="0"/>
          </a:p>
        </p:txBody>
      </p:sp>
      <p:sp>
        <p:nvSpPr>
          <p:cNvPr id="9" name="obj-card-1"/>
          <p:cNvSpPr/>
          <p:nvPr/>
        </p:nvSpPr>
        <p:spPr>
          <a:xfrm>
            <a:off x="3364992" y="1554480"/>
            <a:ext cx="2606040" cy="3291840"/>
          </a:xfrm>
          <a:prstGeom prst="roundRect">
            <a:avLst>
              <a:gd name="adj" fmla="val 4211"/>
            </a:avLst>
          </a:prstGeom>
          <a:solidFill>
            <a:schemeClr val="bg2"/>
          </a:solidFill>
          <a:ln/>
        </p:spPr>
      </p:sp>
      <p:sp>
        <p:nvSpPr>
          <p:cNvPr id="10" name="Shape 7"/>
          <p:cNvSpPr/>
          <p:nvPr/>
        </p:nvSpPr>
        <p:spPr>
          <a:xfrm>
            <a:off x="3639312" y="1828800"/>
            <a:ext cx="731520" cy="731520"/>
          </a:xfrm>
          <a:prstGeom prst="ellipse">
            <a:avLst/>
          </a:prstGeom>
          <a:solidFill>
            <a:schemeClr val="accent2"/>
          </a:solidFill>
          <a:ln/>
        </p:spPr>
      </p:sp>
      <p:sp>
        <p:nvSpPr>
          <p:cNvPr id="11" name="Text 8"/>
          <p:cNvSpPr txBox="1"/>
          <p:nvPr/>
        </p:nvSpPr>
        <p:spPr>
          <a:xfrm>
            <a:off x="3639312" y="18288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 9"/>
          <p:cNvSpPr txBox="1"/>
          <p:nvPr/>
        </p:nvSpPr>
        <p:spPr>
          <a:xfrm>
            <a:off x="3639312" y="2834640"/>
            <a:ext cx="2103120" cy="822960"/>
          </a:xfrm>
          <a:prstGeom prst="rect">
            <a:avLst/>
          </a:prstGeom>
          <a:noFill/>
          <a:ln/>
        </p:spPr>
        <p:txBody>
          <a:bodyPr wrap="square" lIns="0" tIns="0" rIns="0" bIns="0" rtlCol="0" anchor="t"/>
          <a:lstStyle/>
          <a:p>
            <a:pPr indent="0" marL="0">
              <a:buNone/>
            </a:pPr>
            <a:r>
              <a:rPr lang="en-US" sz="1800" b="1" dirty="0">
                <a:solidFill>
                  <a:schemeClr val="tx2"/>
                </a:solidFill>
              </a:rPr>
              <a:t>Seven specialized tools</a:t>
            </a:r>
            <a:endParaRPr lang="en-US" sz="1800" dirty="0"/>
          </a:p>
        </p:txBody>
      </p:sp>
      <p:sp>
        <p:nvSpPr>
          <p:cNvPr id="13" name="Text 10"/>
          <p:cNvSpPr txBox="1"/>
          <p:nvPr/>
        </p:nvSpPr>
        <p:spPr>
          <a:xfrm>
            <a:off x="3639312" y="3657600"/>
            <a:ext cx="2103120" cy="1005840"/>
          </a:xfrm>
          <a:prstGeom prst="rect">
            <a:avLst/>
          </a:prstGeom>
          <a:noFill/>
          <a:ln/>
        </p:spPr>
        <p:txBody>
          <a:bodyPr wrap="square" lIns="0" tIns="0" rIns="0" bIns="0" rtlCol="0" anchor="t"/>
          <a:lstStyle/>
          <a:p>
            <a:pPr indent="0" marL="0">
              <a:buNone/>
            </a:pPr>
            <a:r>
              <a:rPr lang="en-US" sz="1400" dirty="0">
                <a:solidFill>
                  <a:schemeClr val="tx1"/>
                </a:solidFill>
              </a:rPr>
              <a:t>Math, knowledge, web, weather, data, video, email</a:t>
            </a:r>
            <a:endParaRPr lang="en-US" sz="1400" dirty="0"/>
          </a:p>
        </p:txBody>
      </p:sp>
      <p:sp>
        <p:nvSpPr>
          <p:cNvPr id="14" name="obj-card-2"/>
          <p:cNvSpPr/>
          <p:nvPr/>
        </p:nvSpPr>
        <p:spPr>
          <a:xfrm>
            <a:off x="6181344" y="1554480"/>
            <a:ext cx="2606040" cy="3291840"/>
          </a:xfrm>
          <a:prstGeom prst="roundRect">
            <a:avLst>
              <a:gd name="adj" fmla="val 4211"/>
            </a:avLst>
          </a:prstGeom>
          <a:solidFill>
            <a:schemeClr val="bg2"/>
          </a:solidFill>
          <a:ln/>
        </p:spPr>
      </p:sp>
      <p:sp>
        <p:nvSpPr>
          <p:cNvPr id="15" name="Shape 12"/>
          <p:cNvSpPr/>
          <p:nvPr/>
        </p:nvSpPr>
        <p:spPr>
          <a:xfrm>
            <a:off x="6455664" y="1828800"/>
            <a:ext cx="731520" cy="731520"/>
          </a:xfrm>
          <a:prstGeom prst="ellipse">
            <a:avLst/>
          </a:prstGeom>
          <a:solidFill>
            <a:schemeClr val="accent1"/>
          </a:solidFill>
          <a:ln/>
        </p:spPr>
      </p:sp>
      <p:sp>
        <p:nvSpPr>
          <p:cNvPr id="16" name="Text 13"/>
          <p:cNvSpPr txBox="1"/>
          <p:nvPr/>
        </p:nvSpPr>
        <p:spPr>
          <a:xfrm>
            <a:off x="6455664" y="18288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7" name="Text 14"/>
          <p:cNvSpPr txBox="1"/>
          <p:nvPr/>
        </p:nvSpPr>
        <p:spPr>
          <a:xfrm>
            <a:off x="6455664" y="2834640"/>
            <a:ext cx="2103120" cy="822960"/>
          </a:xfrm>
          <a:prstGeom prst="rect">
            <a:avLst/>
          </a:prstGeom>
          <a:noFill/>
          <a:ln/>
        </p:spPr>
        <p:txBody>
          <a:bodyPr wrap="square" lIns="0" tIns="0" rIns="0" bIns="0" rtlCol="0" anchor="t"/>
          <a:lstStyle/>
          <a:p>
            <a:pPr indent="0" marL="0">
              <a:buNone/>
            </a:pPr>
            <a:r>
              <a:rPr lang="en-US" sz="1800" b="1" dirty="0">
                <a:solidFill>
                  <a:schemeClr val="tx2"/>
                </a:solidFill>
              </a:rPr>
              <a:t>Tool selection by question</a:t>
            </a:r>
            <a:endParaRPr lang="en-US" sz="1800" dirty="0"/>
          </a:p>
        </p:txBody>
      </p:sp>
      <p:sp>
        <p:nvSpPr>
          <p:cNvPr id="18" name="Text 15"/>
          <p:cNvSpPr txBox="1"/>
          <p:nvPr/>
        </p:nvSpPr>
        <p:spPr>
          <a:xfrm>
            <a:off x="6455664" y="3657600"/>
            <a:ext cx="2103120" cy="1005840"/>
          </a:xfrm>
          <a:prstGeom prst="rect">
            <a:avLst/>
          </a:prstGeom>
          <a:noFill/>
          <a:ln/>
        </p:spPr>
        <p:txBody>
          <a:bodyPr wrap="square" lIns="0" tIns="0" rIns="0" bIns="0" rtlCol="0" anchor="t"/>
          <a:lstStyle/>
          <a:p>
            <a:pPr indent="0" marL="0">
              <a:buNone/>
            </a:pPr>
            <a:r>
              <a:rPr lang="en-US" sz="1400" dirty="0">
                <a:solidFill>
                  <a:schemeClr val="tx1"/>
                </a:solidFill>
              </a:rPr>
              <a:t>The model chooses tools from the user's request</a:t>
            </a:r>
            <a:endParaRPr lang="en-US" sz="1400" dirty="0"/>
          </a:p>
        </p:txBody>
      </p:sp>
      <p:sp>
        <p:nvSpPr>
          <p:cNvPr id="19" name="obj-card-3"/>
          <p:cNvSpPr/>
          <p:nvPr/>
        </p:nvSpPr>
        <p:spPr>
          <a:xfrm>
            <a:off x="8997696" y="1554480"/>
            <a:ext cx="2606040" cy="3291840"/>
          </a:xfrm>
          <a:prstGeom prst="roundRect">
            <a:avLst>
              <a:gd name="adj" fmla="val 4211"/>
            </a:avLst>
          </a:prstGeom>
          <a:solidFill>
            <a:schemeClr val="bg2"/>
          </a:solidFill>
          <a:ln/>
        </p:spPr>
      </p:sp>
      <p:sp>
        <p:nvSpPr>
          <p:cNvPr id="20" name="Shape 17"/>
          <p:cNvSpPr/>
          <p:nvPr/>
        </p:nvSpPr>
        <p:spPr>
          <a:xfrm>
            <a:off x="9272016" y="1828800"/>
            <a:ext cx="731520" cy="731520"/>
          </a:xfrm>
          <a:prstGeom prst="ellipse">
            <a:avLst/>
          </a:prstGeom>
          <a:solidFill>
            <a:schemeClr val="accent2"/>
          </a:solidFill>
          <a:ln/>
        </p:spPr>
      </p:sp>
      <p:sp>
        <p:nvSpPr>
          <p:cNvPr id="21" name="Text 18"/>
          <p:cNvSpPr txBox="1"/>
          <p:nvPr/>
        </p:nvSpPr>
        <p:spPr>
          <a:xfrm>
            <a:off x="9272016" y="18288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2" name="Text 19"/>
          <p:cNvSpPr txBox="1"/>
          <p:nvPr/>
        </p:nvSpPr>
        <p:spPr>
          <a:xfrm>
            <a:off x="9272016" y="2834640"/>
            <a:ext cx="2103120" cy="822960"/>
          </a:xfrm>
          <a:prstGeom prst="rect">
            <a:avLst/>
          </a:prstGeom>
          <a:noFill/>
          <a:ln/>
        </p:spPr>
        <p:txBody>
          <a:bodyPr wrap="square" lIns="0" tIns="0" rIns="0" bIns="0" rtlCol="0" anchor="t"/>
          <a:lstStyle/>
          <a:p>
            <a:pPr indent="0" marL="0">
              <a:buNone/>
            </a:pPr>
            <a:r>
              <a:rPr lang="en-US" sz="1800" b="1" dirty="0">
                <a:solidFill>
                  <a:schemeClr val="tx2"/>
                </a:solidFill>
              </a:rPr>
              <a:t>Delivered as a web app</a:t>
            </a:r>
            <a:endParaRPr lang="en-US" sz="1800" dirty="0"/>
          </a:p>
        </p:txBody>
      </p:sp>
      <p:sp>
        <p:nvSpPr>
          <p:cNvPr id="23" name="Text 20"/>
          <p:cNvSpPr txBox="1"/>
          <p:nvPr/>
        </p:nvSpPr>
        <p:spPr>
          <a:xfrm>
            <a:off x="9272016" y="3657600"/>
            <a:ext cx="2103120" cy="1005840"/>
          </a:xfrm>
          <a:prstGeom prst="rect">
            <a:avLst/>
          </a:prstGeom>
          <a:noFill/>
          <a:ln/>
        </p:spPr>
        <p:txBody>
          <a:bodyPr wrap="square" lIns="0" tIns="0" rIns="0" bIns="0" rtlCol="0" anchor="t"/>
          <a:lstStyle/>
          <a:p>
            <a:pPr indent="0" marL="0">
              <a:buNone/>
            </a:pPr>
            <a:r>
              <a:rPr lang="en-US" sz="1400" dirty="0">
                <a:solidFill>
                  <a:schemeClr val="tx1"/>
                </a:solidFill>
              </a:rPr>
              <a:t>Answers returned through a Flask application</a:t>
            </a:r>
            <a:endParaRPr lang="en-US" sz="1400" dirty="0"/>
          </a:p>
        </p:txBody>
      </p:sp>
      <p:sp>
        <p:nvSpPr>
          <p:cNvPr id="24" name="obj-banner"/>
          <p:cNvSpPr/>
          <p:nvPr/>
        </p:nvSpPr>
        <p:spPr>
          <a:xfrm>
            <a:off x="548640" y="5212080"/>
            <a:ext cx="11064240" cy="731520"/>
          </a:xfrm>
          <a:prstGeom prst="roundRect">
            <a:avLst>
              <a:gd name="adj" fmla="val 15000"/>
            </a:avLst>
          </a:prstGeom>
          <a:solidFill>
            <a:schemeClr val="tx2"/>
          </a:solidFill>
          <a:ln/>
        </p:spPr>
      </p:sp>
      <p:sp>
        <p:nvSpPr>
          <p:cNvPr id="25" name="Text 22"/>
          <p:cNvSpPr txBox="1"/>
          <p:nvPr/>
        </p:nvSpPr>
        <p:spPr>
          <a:xfrm>
            <a:off x="822960" y="5212080"/>
            <a:ext cx="10515600" cy="731520"/>
          </a:xfrm>
          <a:prstGeom prst="rect">
            <a:avLst/>
          </a:prstGeom>
          <a:noFill/>
          <a:ln/>
        </p:spPr>
        <p:txBody>
          <a:bodyPr wrap="square" lIns="0" tIns="0" rIns="0" bIns="0" rtlCol="0" anchor="ctr"/>
          <a:lstStyle/>
          <a:p>
            <a:pPr indent="0" marL="0">
              <a:buNone/>
            </a:pPr>
            <a:r>
              <a:rPr lang="en-US" sz="1800" b="1" dirty="0">
                <a:solidFill>
                  <a:schemeClr val="accent4"/>
                </a:solidFill>
              </a:rPr>
              <a:t>Goal: demonstrate practical agentic tool-calling, not just a chatbot</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Technology Stack</a:t>
            </a:r>
            <a:endParaRPr lang="en-US" sz="3400" dirty="0"/>
          </a:p>
        </p:txBody>
      </p:sp>
      <p:sp>
        <p:nvSpPr>
          <p:cNvPr id="4" name="stack-card-0"/>
          <p:cNvSpPr/>
          <p:nvPr/>
        </p:nvSpPr>
        <p:spPr>
          <a:xfrm>
            <a:off x="548640" y="1463040"/>
            <a:ext cx="2606040" cy="2286000"/>
          </a:xfrm>
          <a:prstGeom prst="roundRect">
            <a:avLst>
              <a:gd name="adj" fmla="val 4800"/>
            </a:avLst>
          </a:prstGeom>
          <a:solidFill>
            <a:schemeClr val="bg2"/>
          </a:solidFill>
          <a:ln/>
        </p:spPr>
      </p:sp>
      <p:sp>
        <p:nvSpPr>
          <p:cNvPr id="5" name="Shape 2"/>
          <p:cNvSpPr/>
          <p:nvPr/>
        </p:nvSpPr>
        <p:spPr>
          <a:xfrm>
            <a:off x="777240" y="1691640"/>
            <a:ext cx="457200" cy="457200"/>
          </a:xfrm>
          <a:prstGeom prst="ellipse">
            <a:avLst/>
          </a:prstGeom>
          <a:solidFill>
            <a:schemeClr val="accent1"/>
          </a:solidFill>
          <a:ln/>
        </p:spPr>
      </p:sp>
      <p:sp>
        <p:nvSpPr>
          <p:cNvPr id="6" name="Text 3"/>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777240" y="22860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Python</a:t>
            </a:r>
            <a:endParaRPr lang="en-US" sz="1800" dirty="0"/>
          </a:p>
        </p:txBody>
      </p:sp>
      <p:sp>
        <p:nvSpPr>
          <p:cNvPr id="8" name="Text 5"/>
          <p:cNvSpPr txBox="1"/>
          <p:nvPr/>
        </p:nvSpPr>
        <p:spPr>
          <a:xfrm>
            <a:off x="777240" y="2743200"/>
            <a:ext cx="2194560" cy="914400"/>
          </a:xfrm>
          <a:prstGeom prst="rect">
            <a:avLst/>
          </a:prstGeom>
          <a:noFill/>
          <a:ln/>
        </p:spPr>
        <p:txBody>
          <a:bodyPr wrap="square" lIns="0" tIns="0" rIns="0" bIns="0" rtlCol="0" anchor="t"/>
          <a:lstStyle/>
          <a:p>
            <a:pPr indent="0" marL="0">
              <a:buNone/>
            </a:pPr>
            <a:r>
              <a:rPr lang="en-US" sz="1400" dirty="0">
                <a:solidFill>
                  <a:schemeClr val="tx1"/>
                </a:solidFill>
              </a:rPr>
              <a:t>Core language that connects the agent, tools, and server</a:t>
            </a:r>
            <a:endParaRPr lang="en-US" sz="1400" dirty="0"/>
          </a:p>
        </p:txBody>
      </p:sp>
      <p:sp>
        <p:nvSpPr>
          <p:cNvPr id="9" name="stack-card-1"/>
          <p:cNvSpPr/>
          <p:nvPr/>
        </p:nvSpPr>
        <p:spPr>
          <a:xfrm>
            <a:off x="3364992" y="1463040"/>
            <a:ext cx="2606040" cy="2286000"/>
          </a:xfrm>
          <a:prstGeom prst="roundRect">
            <a:avLst>
              <a:gd name="adj" fmla="val 4800"/>
            </a:avLst>
          </a:prstGeom>
          <a:solidFill>
            <a:schemeClr val="bg2"/>
          </a:solidFill>
          <a:ln/>
        </p:spPr>
      </p:sp>
      <p:sp>
        <p:nvSpPr>
          <p:cNvPr id="10" name="Shape 7"/>
          <p:cNvSpPr/>
          <p:nvPr/>
        </p:nvSpPr>
        <p:spPr>
          <a:xfrm>
            <a:off x="3593592" y="1691640"/>
            <a:ext cx="457200" cy="457200"/>
          </a:xfrm>
          <a:prstGeom prst="ellipse">
            <a:avLst/>
          </a:prstGeom>
          <a:solidFill>
            <a:schemeClr val="accent1"/>
          </a:solidFill>
          <a:ln/>
        </p:spPr>
      </p:sp>
      <p:sp>
        <p:nvSpPr>
          <p:cNvPr id="11" name="Text 8"/>
          <p:cNvSpPr txBox="1"/>
          <p:nvPr/>
        </p:nvSpPr>
        <p:spPr>
          <a:xfrm>
            <a:off x="3593592"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9"/>
          <p:cNvSpPr txBox="1"/>
          <p:nvPr/>
        </p:nvSpPr>
        <p:spPr>
          <a:xfrm>
            <a:off x="3593592" y="22860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Gemini 2.5 Flash</a:t>
            </a:r>
            <a:endParaRPr lang="en-US" sz="1800" dirty="0"/>
          </a:p>
        </p:txBody>
      </p:sp>
      <p:sp>
        <p:nvSpPr>
          <p:cNvPr id="13" name="Text 10"/>
          <p:cNvSpPr txBox="1"/>
          <p:nvPr/>
        </p:nvSpPr>
        <p:spPr>
          <a:xfrm>
            <a:off x="3593592" y="2743200"/>
            <a:ext cx="2194560" cy="914400"/>
          </a:xfrm>
          <a:prstGeom prst="rect">
            <a:avLst/>
          </a:prstGeom>
          <a:noFill/>
          <a:ln/>
        </p:spPr>
        <p:txBody>
          <a:bodyPr wrap="square" lIns="0" tIns="0" rIns="0" bIns="0" rtlCol="0" anchor="t"/>
          <a:lstStyle/>
          <a:p>
            <a:pPr indent="0" marL="0">
              <a:buNone/>
            </a:pPr>
            <a:r>
              <a:rPr lang="en-US" sz="1400" dirty="0">
                <a:solidFill>
                  <a:schemeClr val="tx1"/>
                </a:solidFill>
              </a:rPr>
              <a:t>The LLM that reasons and decides when to use tools</a:t>
            </a:r>
            <a:endParaRPr lang="en-US" sz="1400" dirty="0"/>
          </a:p>
        </p:txBody>
      </p:sp>
      <p:sp>
        <p:nvSpPr>
          <p:cNvPr id="14" name="stack-card-2"/>
          <p:cNvSpPr/>
          <p:nvPr/>
        </p:nvSpPr>
        <p:spPr>
          <a:xfrm>
            <a:off x="6181344" y="1463040"/>
            <a:ext cx="2606040" cy="2286000"/>
          </a:xfrm>
          <a:prstGeom prst="roundRect">
            <a:avLst>
              <a:gd name="adj" fmla="val 4800"/>
            </a:avLst>
          </a:prstGeom>
          <a:solidFill>
            <a:schemeClr val="bg2"/>
          </a:solidFill>
          <a:ln/>
        </p:spPr>
      </p:sp>
      <p:sp>
        <p:nvSpPr>
          <p:cNvPr id="15" name="Shape 12"/>
          <p:cNvSpPr/>
          <p:nvPr/>
        </p:nvSpPr>
        <p:spPr>
          <a:xfrm>
            <a:off x="6409944" y="1691640"/>
            <a:ext cx="457200" cy="457200"/>
          </a:xfrm>
          <a:prstGeom prst="ellipse">
            <a:avLst/>
          </a:prstGeom>
          <a:solidFill>
            <a:schemeClr val="accent1"/>
          </a:solidFill>
          <a:ln/>
        </p:spPr>
      </p:sp>
      <p:sp>
        <p:nvSpPr>
          <p:cNvPr id="16" name="Text 13"/>
          <p:cNvSpPr txBox="1"/>
          <p:nvPr/>
        </p:nvSpPr>
        <p:spPr>
          <a:xfrm>
            <a:off x="6409944"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4"/>
          <p:cNvSpPr txBox="1"/>
          <p:nvPr/>
        </p:nvSpPr>
        <p:spPr>
          <a:xfrm>
            <a:off x="6409944" y="22860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LangGraph</a:t>
            </a:r>
            <a:endParaRPr lang="en-US" sz="1800" dirty="0"/>
          </a:p>
        </p:txBody>
      </p:sp>
      <p:sp>
        <p:nvSpPr>
          <p:cNvPr id="18" name="Text 15"/>
          <p:cNvSpPr txBox="1"/>
          <p:nvPr/>
        </p:nvSpPr>
        <p:spPr>
          <a:xfrm>
            <a:off x="6409944" y="2743200"/>
            <a:ext cx="2194560" cy="914400"/>
          </a:xfrm>
          <a:prstGeom prst="rect">
            <a:avLst/>
          </a:prstGeom>
          <a:noFill/>
          <a:ln/>
        </p:spPr>
        <p:txBody>
          <a:bodyPr wrap="square" lIns="0" tIns="0" rIns="0" bIns="0" rtlCol="0" anchor="t"/>
          <a:lstStyle/>
          <a:p>
            <a:pPr indent="0" marL="0">
              <a:buNone/>
            </a:pPr>
            <a:r>
              <a:rPr lang="en-US" sz="1400" dirty="0">
                <a:solidFill>
                  <a:schemeClr val="tx1"/>
                </a:solidFill>
              </a:rPr>
              <a:t>Builds the ReAct agent loop around the model</a:t>
            </a:r>
            <a:endParaRPr lang="en-US" sz="1400" dirty="0"/>
          </a:p>
        </p:txBody>
      </p:sp>
      <p:sp>
        <p:nvSpPr>
          <p:cNvPr id="19" name="stack-card-3"/>
          <p:cNvSpPr/>
          <p:nvPr/>
        </p:nvSpPr>
        <p:spPr>
          <a:xfrm>
            <a:off x="8997696" y="1463040"/>
            <a:ext cx="2606040" cy="2286000"/>
          </a:xfrm>
          <a:prstGeom prst="roundRect">
            <a:avLst>
              <a:gd name="adj" fmla="val 4800"/>
            </a:avLst>
          </a:prstGeom>
          <a:solidFill>
            <a:schemeClr val="bg2"/>
          </a:solidFill>
          <a:ln/>
        </p:spPr>
      </p:sp>
      <p:sp>
        <p:nvSpPr>
          <p:cNvPr id="20" name="Shape 17"/>
          <p:cNvSpPr/>
          <p:nvPr/>
        </p:nvSpPr>
        <p:spPr>
          <a:xfrm>
            <a:off x="9226296" y="1691640"/>
            <a:ext cx="457200" cy="457200"/>
          </a:xfrm>
          <a:prstGeom prst="ellipse">
            <a:avLst/>
          </a:prstGeom>
          <a:solidFill>
            <a:schemeClr val="accent1"/>
          </a:solidFill>
          <a:ln/>
        </p:spPr>
      </p:sp>
      <p:sp>
        <p:nvSpPr>
          <p:cNvPr id="21" name="Text 18"/>
          <p:cNvSpPr txBox="1"/>
          <p:nvPr/>
        </p:nvSpPr>
        <p:spPr>
          <a:xfrm>
            <a:off x="9226296"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9226296" y="22860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Flask</a:t>
            </a:r>
            <a:endParaRPr lang="en-US" sz="1800" dirty="0"/>
          </a:p>
        </p:txBody>
      </p:sp>
      <p:sp>
        <p:nvSpPr>
          <p:cNvPr id="23" name="Text 20"/>
          <p:cNvSpPr txBox="1"/>
          <p:nvPr/>
        </p:nvSpPr>
        <p:spPr>
          <a:xfrm>
            <a:off x="9226296" y="2743200"/>
            <a:ext cx="2194560" cy="914400"/>
          </a:xfrm>
          <a:prstGeom prst="rect">
            <a:avLst/>
          </a:prstGeom>
          <a:noFill/>
          <a:ln/>
        </p:spPr>
        <p:txBody>
          <a:bodyPr wrap="square" lIns="0" tIns="0" rIns="0" bIns="0" rtlCol="0" anchor="t"/>
          <a:lstStyle/>
          <a:p>
            <a:pPr indent="0" marL="0">
              <a:buNone/>
            </a:pPr>
            <a:r>
              <a:rPr lang="en-US" sz="1400" dirty="0">
                <a:solidFill>
                  <a:schemeClr val="tx1"/>
                </a:solidFill>
              </a:rPr>
              <a:t>Web server: receives chat requests, returns JSON</a:t>
            </a:r>
            <a:endParaRPr lang="en-US" sz="1400" dirty="0"/>
          </a:p>
        </p:txBody>
      </p:sp>
      <p:sp>
        <p:nvSpPr>
          <p:cNvPr id="24" name="stack-card-4"/>
          <p:cNvSpPr/>
          <p:nvPr/>
        </p:nvSpPr>
        <p:spPr>
          <a:xfrm>
            <a:off x="548640" y="3977640"/>
            <a:ext cx="2606040" cy="2286000"/>
          </a:xfrm>
          <a:prstGeom prst="roundRect">
            <a:avLst>
              <a:gd name="adj" fmla="val 4800"/>
            </a:avLst>
          </a:prstGeom>
          <a:solidFill>
            <a:schemeClr val="bg2"/>
          </a:solidFill>
          <a:ln/>
        </p:spPr>
      </p:sp>
      <p:sp>
        <p:nvSpPr>
          <p:cNvPr id="25" name="Shape 22"/>
          <p:cNvSpPr/>
          <p:nvPr/>
        </p:nvSpPr>
        <p:spPr>
          <a:xfrm>
            <a:off x="777240" y="4206240"/>
            <a:ext cx="457200" cy="457200"/>
          </a:xfrm>
          <a:prstGeom prst="ellipse">
            <a:avLst/>
          </a:prstGeom>
          <a:solidFill>
            <a:schemeClr val="accent1"/>
          </a:solidFill>
          <a:ln/>
        </p:spPr>
      </p:sp>
      <p:sp>
        <p:nvSpPr>
          <p:cNvPr id="26" name="Text 23"/>
          <p:cNvSpPr txBox="1"/>
          <p:nvPr/>
        </p:nvSpPr>
        <p:spPr>
          <a:xfrm>
            <a:off x="777240"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4"/>
          <p:cNvSpPr txBox="1"/>
          <p:nvPr/>
        </p:nvSpPr>
        <p:spPr>
          <a:xfrm>
            <a:off x="777240" y="48006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HTML · CSS · JS</a:t>
            </a:r>
            <a:endParaRPr lang="en-US" sz="1800" dirty="0"/>
          </a:p>
        </p:txBody>
      </p:sp>
      <p:sp>
        <p:nvSpPr>
          <p:cNvPr id="28" name="Text 25"/>
          <p:cNvSpPr txBox="1"/>
          <p:nvPr/>
        </p:nvSpPr>
        <p:spPr>
          <a:xfrm>
            <a:off x="777240" y="5257800"/>
            <a:ext cx="2194560" cy="914400"/>
          </a:xfrm>
          <a:prstGeom prst="rect">
            <a:avLst/>
          </a:prstGeom>
          <a:noFill/>
          <a:ln/>
        </p:spPr>
        <p:txBody>
          <a:bodyPr wrap="square" lIns="0" tIns="0" rIns="0" bIns="0" rtlCol="0" anchor="t"/>
          <a:lstStyle/>
          <a:p>
            <a:pPr indent="0" marL="0">
              <a:buNone/>
            </a:pPr>
            <a:r>
              <a:rPr lang="en-US" sz="1400" dirty="0">
                <a:solidFill>
                  <a:schemeClr val="tx1"/>
                </a:solidFill>
              </a:rPr>
              <a:t>Browser chat interface the user sees</a:t>
            </a:r>
            <a:endParaRPr lang="en-US" sz="1400" dirty="0"/>
          </a:p>
        </p:txBody>
      </p:sp>
      <p:sp>
        <p:nvSpPr>
          <p:cNvPr id="29" name="stack-card-5"/>
          <p:cNvSpPr/>
          <p:nvPr/>
        </p:nvSpPr>
        <p:spPr>
          <a:xfrm>
            <a:off x="3364992" y="3977640"/>
            <a:ext cx="2606040" cy="2286000"/>
          </a:xfrm>
          <a:prstGeom prst="roundRect">
            <a:avLst>
              <a:gd name="adj" fmla="val 4800"/>
            </a:avLst>
          </a:prstGeom>
          <a:solidFill>
            <a:schemeClr val="bg2"/>
          </a:solidFill>
          <a:ln/>
        </p:spPr>
      </p:sp>
      <p:sp>
        <p:nvSpPr>
          <p:cNvPr id="30" name="Shape 27"/>
          <p:cNvSpPr/>
          <p:nvPr/>
        </p:nvSpPr>
        <p:spPr>
          <a:xfrm>
            <a:off x="3593592" y="4206240"/>
            <a:ext cx="457200" cy="457200"/>
          </a:xfrm>
          <a:prstGeom prst="ellipse">
            <a:avLst/>
          </a:prstGeom>
          <a:solidFill>
            <a:schemeClr val="accent1"/>
          </a:solidFill>
          <a:ln/>
        </p:spPr>
      </p:sp>
      <p:sp>
        <p:nvSpPr>
          <p:cNvPr id="31" name="Text 28"/>
          <p:cNvSpPr txBox="1"/>
          <p:nvPr/>
        </p:nvSpPr>
        <p:spPr>
          <a:xfrm>
            <a:off x="3593592"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 29"/>
          <p:cNvSpPr txBox="1"/>
          <p:nvPr/>
        </p:nvSpPr>
        <p:spPr>
          <a:xfrm>
            <a:off x="3593592" y="48006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SQLite</a:t>
            </a:r>
            <a:endParaRPr lang="en-US" sz="1800" dirty="0"/>
          </a:p>
        </p:txBody>
      </p:sp>
      <p:sp>
        <p:nvSpPr>
          <p:cNvPr id="33" name="Text 30"/>
          <p:cNvSpPr txBox="1"/>
          <p:nvPr/>
        </p:nvSpPr>
        <p:spPr>
          <a:xfrm>
            <a:off x="3593592" y="5257800"/>
            <a:ext cx="2194560" cy="914400"/>
          </a:xfrm>
          <a:prstGeom prst="rect">
            <a:avLst/>
          </a:prstGeom>
          <a:noFill/>
          <a:ln/>
        </p:spPr>
        <p:txBody>
          <a:bodyPr wrap="square" lIns="0" tIns="0" rIns="0" bIns="0" rtlCol="0" anchor="t"/>
          <a:lstStyle/>
          <a:p>
            <a:pPr indent="0" marL="0">
              <a:buNone/>
            </a:pPr>
            <a:r>
              <a:rPr lang="en-US" sz="1400" dirty="0">
                <a:solidFill>
                  <a:schemeClr val="tx1"/>
                </a:solidFill>
              </a:rPr>
              <a:t>Local company database for the SQL tool</a:t>
            </a:r>
            <a:endParaRPr lang="en-US" sz="1400" dirty="0"/>
          </a:p>
        </p:txBody>
      </p:sp>
      <p:sp>
        <p:nvSpPr>
          <p:cNvPr id="34" name="stack-card-6"/>
          <p:cNvSpPr/>
          <p:nvPr/>
        </p:nvSpPr>
        <p:spPr>
          <a:xfrm>
            <a:off x="6181344" y="3977640"/>
            <a:ext cx="2606040" cy="2286000"/>
          </a:xfrm>
          <a:prstGeom prst="roundRect">
            <a:avLst>
              <a:gd name="adj" fmla="val 4800"/>
            </a:avLst>
          </a:prstGeom>
          <a:solidFill>
            <a:schemeClr val="bg2"/>
          </a:solidFill>
          <a:ln/>
        </p:spPr>
      </p:sp>
      <p:sp>
        <p:nvSpPr>
          <p:cNvPr id="35" name="Shape 32"/>
          <p:cNvSpPr/>
          <p:nvPr/>
        </p:nvSpPr>
        <p:spPr>
          <a:xfrm>
            <a:off x="6409944" y="4206240"/>
            <a:ext cx="457200" cy="457200"/>
          </a:xfrm>
          <a:prstGeom prst="ellipse">
            <a:avLst/>
          </a:prstGeom>
          <a:solidFill>
            <a:schemeClr val="accent1"/>
          </a:solidFill>
          <a:ln/>
        </p:spPr>
      </p:sp>
      <p:sp>
        <p:nvSpPr>
          <p:cNvPr id="36" name="Text 33"/>
          <p:cNvSpPr txBox="1"/>
          <p:nvPr/>
        </p:nvSpPr>
        <p:spPr>
          <a:xfrm>
            <a:off x="6409944" y="42062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37" name="Text 34"/>
          <p:cNvSpPr txBox="1"/>
          <p:nvPr/>
        </p:nvSpPr>
        <p:spPr>
          <a:xfrm>
            <a:off x="6409944" y="4800600"/>
            <a:ext cx="2194560" cy="411480"/>
          </a:xfrm>
          <a:prstGeom prst="rect">
            <a:avLst/>
          </a:prstGeom>
          <a:noFill/>
          <a:ln/>
        </p:spPr>
        <p:txBody>
          <a:bodyPr wrap="square" lIns="0" tIns="0" rIns="0" bIns="0" rtlCol="0" anchor="t"/>
          <a:lstStyle/>
          <a:p>
            <a:pPr indent="0" marL="0">
              <a:buNone/>
            </a:pPr>
            <a:r>
              <a:rPr lang="en-US" sz="1800" b="1" dirty="0">
                <a:solidFill>
                  <a:schemeClr val="tx2"/>
                </a:solidFill>
              </a:rPr>
              <a:t>External APIs</a:t>
            </a:r>
            <a:endParaRPr lang="en-US" sz="1800" dirty="0"/>
          </a:p>
        </p:txBody>
      </p:sp>
      <p:sp>
        <p:nvSpPr>
          <p:cNvPr id="38" name="Text 35"/>
          <p:cNvSpPr txBox="1"/>
          <p:nvPr/>
        </p:nvSpPr>
        <p:spPr>
          <a:xfrm>
            <a:off x="6409944" y="5257800"/>
            <a:ext cx="2194560" cy="914400"/>
          </a:xfrm>
          <a:prstGeom prst="rect">
            <a:avLst/>
          </a:prstGeom>
          <a:noFill/>
          <a:ln/>
        </p:spPr>
        <p:txBody>
          <a:bodyPr wrap="square" lIns="0" tIns="0" rIns="0" bIns="0" rtlCol="0" anchor="t"/>
          <a:lstStyle/>
          <a:p>
            <a:pPr indent="0" marL="0">
              <a:buNone/>
            </a:pPr>
            <a:r>
              <a:rPr lang="en-US" sz="1400" dirty="0">
                <a:solidFill>
                  <a:schemeClr val="tx1"/>
                </a:solidFill>
              </a:rPr>
              <a:t>Open-Meteo, YouTube Data, Gmail, DuckDuckGo, Wikipedia</a:t>
            </a:r>
            <a:endParaRPr lang="en-US" sz="1400" dirty="0"/>
          </a:p>
        </p:txBody>
      </p:sp>
      <p:sp>
        <p:nvSpPr>
          <p:cNvPr id="39" name="stack-summary"/>
          <p:cNvSpPr/>
          <p:nvPr/>
        </p:nvSpPr>
        <p:spPr>
          <a:xfrm>
            <a:off x="8924544" y="3977640"/>
            <a:ext cx="2688336" cy="2286000"/>
          </a:xfrm>
          <a:prstGeom prst="roundRect">
            <a:avLst>
              <a:gd name="adj" fmla="val 4800"/>
            </a:avLst>
          </a:prstGeom>
          <a:solidFill>
            <a:schemeClr val="accent2"/>
          </a:solidFill>
          <a:ln/>
        </p:spPr>
      </p:sp>
      <p:sp>
        <p:nvSpPr>
          <p:cNvPr id="40" name="Text 37"/>
          <p:cNvSpPr txBox="1"/>
          <p:nvPr/>
        </p:nvSpPr>
        <p:spPr>
          <a:xfrm>
            <a:off x="9144000" y="4206240"/>
            <a:ext cx="2286000" cy="1828800"/>
          </a:xfrm>
          <a:prstGeom prst="rect">
            <a:avLst/>
          </a:prstGeom>
          <a:noFill/>
          <a:ln/>
        </p:spPr>
        <p:txBody>
          <a:bodyPr wrap="square" lIns="0" tIns="0" rIns="0" bIns="0" rtlCol="0" anchor="ctr"/>
          <a:lstStyle/>
          <a:p>
            <a:pPr indent="0" marL="0">
              <a:buNone/>
            </a:pPr>
            <a:r>
              <a:rPr lang="en-US" sz="2200" b="1" dirty="0">
                <a:solidFill>
                  <a:schemeClr val="bg1"/>
                </a:solidFill>
                <a:latin typeface="Cambria" pitchFamily="34" charset="0"/>
                <a:ea typeface="Cambria" pitchFamily="34" charset="-122"/>
                <a:cs typeface="Cambria" pitchFamily="34" charset="-120"/>
              </a:rPr>
              <a:t>The model reasons.</a:t>
            </a:r>
            <a:endParaRPr lang="en-US" sz="2200" dirty="0"/>
          </a:p>
          <a:p>
            <a:pPr indent="0" marL="0">
              <a:buNone/>
            </a:pPr>
            <a:r>
              <a:rPr lang="en-US" sz="2200" b="1" dirty="0">
                <a:solidFill>
                  <a:schemeClr val="bg1"/>
                </a:solidFill>
                <a:latin typeface="Cambria" pitchFamily="34" charset="0"/>
                <a:ea typeface="Cambria" pitchFamily="34" charset="-122"/>
                <a:cs typeface="Cambria" pitchFamily="34" charset="-120"/>
              </a:rPr>
              <a:t>The tools act.</a:t>
            </a:r>
            <a:endParaRPr lang="en-US" sz="2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System Architecture</a:t>
            </a:r>
            <a:endParaRPr lang="en-US" sz="3400" dirty="0"/>
          </a:p>
        </p:txBody>
      </p:sp>
      <p:sp>
        <p:nvSpPr>
          <p:cNvPr id="4" name="arch-box-0"/>
          <p:cNvSpPr/>
          <p:nvPr/>
        </p:nvSpPr>
        <p:spPr>
          <a:xfrm>
            <a:off x="822960" y="1417320"/>
            <a:ext cx="2377440" cy="960120"/>
          </a:xfrm>
          <a:prstGeom prst="roundRect">
            <a:avLst>
              <a:gd name="adj" fmla="val 11429"/>
            </a:avLst>
          </a:prstGeom>
          <a:solidFill>
            <a:schemeClr val="accent1"/>
          </a:solidFill>
          <a:ln/>
        </p:spPr>
      </p:sp>
      <p:sp>
        <p:nvSpPr>
          <p:cNvPr id="5" name="Text 2"/>
          <p:cNvSpPr txBox="1"/>
          <p:nvPr/>
        </p:nvSpPr>
        <p:spPr>
          <a:xfrm>
            <a:off x="822960" y="1417320"/>
            <a:ext cx="2377440" cy="960120"/>
          </a:xfrm>
          <a:prstGeom prst="rect">
            <a:avLst/>
          </a:prstGeom>
          <a:noFill/>
          <a:ln/>
        </p:spPr>
        <p:txBody>
          <a:bodyPr wrap="square" lIns="0" tIns="0" rIns="0" bIns="0" rtlCol="0" anchor="ctr"/>
          <a:lstStyle/>
          <a:p>
            <a:pPr algn="ctr" indent="0" marL="0">
              <a:buNone/>
            </a:pPr>
            <a:r>
              <a:rPr lang="en-US" sz="1500" b="1" dirty="0">
                <a:solidFill>
                  <a:schemeClr val="bg1"/>
                </a:solidFill>
              </a:rPr>
              <a:t>User</a:t>
            </a:r>
            <a:endParaRPr lang="en-US" sz="1500" dirty="0"/>
          </a:p>
        </p:txBody>
      </p:sp>
      <p:sp>
        <p:nvSpPr>
          <p:cNvPr id="6" name="Shape 3"/>
          <p:cNvSpPr/>
          <p:nvPr/>
        </p:nvSpPr>
        <p:spPr>
          <a:xfrm>
            <a:off x="3218688" y="1897380"/>
            <a:ext cx="374904" cy="0"/>
          </a:xfrm>
          <a:prstGeom prst="line">
            <a:avLst/>
          </a:prstGeom>
          <a:noFill/>
          <a:ln w="25400">
            <a:solidFill>
              <a:schemeClr val="accent1"/>
            </a:solidFill>
            <a:prstDash val="solid"/>
            <a:tailEnd type="triangle"/>
          </a:ln>
        </p:spPr>
      </p:sp>
      <p:sp>
        <p:nvSpPr>
          <p:cNvPr id="7" name="arch-box-1"/>
          <p:cNvSpPr/>
          <p:nvPr/>
        </p:nvSpPr>
        <p:spPr>
          <a:xfrm>
            <a:off x="3611880" y="1417320"/>
            <a:ext cx="2377440" cy="960120"/>
          </a:xfrm>
          <a:prstGeom prst="roundRect">
            <a:avLst>
              <a:gd name="adj" fmla="val 11429"/>
            </a:avLst>
          </a:prstGeom>
          <a:solidFill>
            <a:schemeClr val="accent1"/>
          </a:solidFill>
          <a:ln/>
        </p:spPr>
      </p:sp>
      <p:sp>
        <p:nvSpPr>
          <p:cNvPr id="8" name="Text 5"/>
          <p:cNvSpPr txBox="1"/>
          <p:nvPr/>
        </p:nvSpPr>
        <p:spPr>
          <a:xfrm>
            <a:off x="3611880" y="1417320"/>
            <a:ext cx="2377440" cy="960120"/>
          </a:xfrm>
          <a:prstGeom prst="rect">
            <a:avLst/>
          </a:prstGeom>
          <a:noFill/>
          <a:ln/>
        </p:spPr>
        <p:txBody>
          <a:bodyPr wrap="square" lIns="0" tIns="0" rIns="0" bIns="0" rtlCol="0" anchor="ctr"/>
          <a:lstStyle/>
          <a:p>
            <a:pPr algn="ctr" indent="0" marL="0">
              <a:buNone/>
            </a:pPr>
            <a:r>
              <a:rPr lang="en-US" sz="1500" b="1" dirty="0">
                <a:solidFill>
                  <a:schemeClr val="bg1"/>
                </a:solidFill>
              </a:rPr>
              <a:t>Browser Chat UI</a:t>
            </a:r>
            <a:endParaRPr lang="en-US" sz="1500" dirty="0"/>
          </a:p>
          <a:p>
            <a:pPr algn="ctr" indent="0" marL="0">
              <a:buNone/>
            </a:pPr>
            <a:r>
              <a:rPr lang="en-US" sz="1300" dirty="0">
                <a:solidFill>
                  <a:schemeClr val="bg1"/>
                </a:solidFill>
              </a:rPr>
              <a:t>HTML · CSS · JS</a:t>
            </a:r>
            <a:endParaRPr lang="en-US" sz="1500" dirty="0"/>
          </a:p>
        </p:txBody>
      </p:sp>
      <p:sp>
        <p:nvSpPr>
          <p:cNvPr id="9" name="Shape 6"/>
          <p:cNvSpPr/>
          <p:nvPr/>
        </p:nvSpPr>
        <p:spPr>
          <a:xfrm>
            <a:off x="6007608" y="1897380"/>
            <a:ext cx="374904" cy="0"/>
          </a:xfrm>
          <a:prstGeom prst="line">
            <a:avLst/>
          </a:prstGeom>
          <a:noFill/>
          <a:ln w="25400">
            <a:solidFill>
              <a:schemeClr val="accent1"/>
            </a:solidFill>
            <a:prstDash val="solid"/>
            <a:tailEnd type="triangle"/>
          </a:ln>
        </p:spPr>
      </p:sp>
      <p:sp>
        <p:nvSpPr>
          <p:cNvPr id="10" name="arch-box-2"/>
          <p:cNvSpPr/>
          <p:nvPr/>
        </p:nvSpPr>
        <p:spPr>
          <a:xfrm>
            <a:off x="6400800" y="1417320"/>
            <a:ext cx="2377440" cy="960120"/>
          </a:xfrm>
          <a:prstGeom prst="roundRect">
            <a:avLst>
              <a:gd name="adj" fmla="val 11429"/>
            </a:avLst>
          </a:prstGeom>
          <a:solidFill>
            <a:schemeClr val="accent1"/>
          </a:solidFill>
          <a:ln/>
        </p:spPr>
      </p:sp>
      <p:sp>
        <p:nvSpPr>
          <p:cNvPr id="11" name="Text 8"/>
          <p:cNvSpPr txBox="1"/>
          <p:nvPr/>
        </p:nvSpPr>
        <p:spPr>
          <a:xfrm>
            <a:off x="6400800" y="1417320"/>
            <a:ext cx="2377440" cy="960120"/>
          </a:xfrm>
          <a:prstGeom prst="rect">
            <a:avLst/>
          </a:prstGeom>
          <a:noFill/>
          <a:ln/>
        </p:spPr>
        <p:txBody>
          <a:bodyPr wrap="square" lIns="0" tIns="0" rIns="0" bIns="0" rtlCol="0" anchor="ctr"/>
          <a:lstStyle/>
          <a:p>
            <a:pPr algn="ctr" indent="0" marL="0">
              <a:buNone/>
            </a:pPr>
            <a:r>
              <a:rPr lang="en-US" sz="1500" b="1" dirty="0">
                <a:solidFill>
                  <a:schemeClr val="bg1"/>
                </a:solidFill>
              </a:rPr>
              <a:t>Flask App</a:t>
            </a:r>
            <a:endParaRPr lang="en-US" sz="1500" dirty="0"/>
          </a:p>
          <a:p>
            <a:pPr algn="ctr" indent="0" marL="0">
              <a:buNone/>
            </a:pPr>
            <a:r>
              <a:rPr lang="en-US" sz="1300" dirty="0">
                <a:solidFill>
                  <a:schemeClr val="bg1"/>
                </a:solidFill>
              </a:rPr>
              <a:t>app.py</a:t>
            </a:r>
            <a:endParaRPr lang="en-US" sz="1500" dirty="0"/>
          </a:p>
        </p:txBody>
      </p:sp>
      <p:sp>
        <p:nvSpPr>
          <p:cNvPr id="12" name="Shape 9"/>
          <p:cNvSpPr/>
          <p:nvPr/>
        </p:nvSpPr>
        <p:spPr>
          <a:xfrm>
            <a:off x="8796528" y="1897380"/>
            <a:ext cx="374904" cy="0"/>
          </a:xfrm>
          <a:prstGeom prst="line">
            <a:avLst/>
          </a:prstGeom>
          <a:noFill/>
          <a:ln w="25400">
            <a:solidFill>
              <a:schemeClr val="accent1"/>
            </a:solidFill>
            <a:prstDash val="solid"/>
            <a:tailEnd type="triangle"/>
          </a:ln>
        </p:spPr>
      </p:sp>
      <p:sp>
        <p:nvSpPr>
          <p:cNvPr id="13" name="arch-box-3"/>
          <p:cNvSpPr/>
          <p:nvPr/>
        </p:nvSpPr>
        <p:spPr>
          <a:xfrm>
            <a:off x="9189720" y="1417320"/>
            <a:ext cx="2377440" cy="960120"/>
          </a:xfrm>
          <a:prstGeom prst="roundRect">
            <a:avLst>
              <a:gd name="adj" fmla="val 11429"/>
            </a:avLst>
          </a:prstGeom>
          <a:solidFill>
            <a:schemeClr val="accent2"/>
          </a:solidFill>
          <a:ln/>
        </p:spPr>
      </p:sp>
      <p:sp>
        <p:nvSpPr>
          <p:cNvPr id="14" name="Text 11"/>
          <p:cNvSpPr txBox="1"/>
          <p:nvPr/>
        </p:nvSpPr>
        <p:spPr>
          <a:xfrm>
            <a:off x="9189720" y="1417320"/>
            <a:ext cx="2377440" cy="960120"/>
          </a:xfrm>
          <a:prstGeom prst="rect">
            <a:avLst/>
          </a:prstGeom>
          <a:noFill/>
          <a:ln/>
        </p:spPr>
        <p:txBody>
          <a:bodyPr wrap="square" lIns="0" tIns="0" rIns="0" bIns="0" rtlCol="0" anchor="ctr"/>
          <a:lstStyle/>
          <a:p>
            <a:pPr algn="ctr" indent="0" marL="0">
              <a:buNone/>
            </a:pPr>
            <a:r>
              <a:rPr lang="en-US" sz="1500" b="1" dirty="0">
                <a:solidFill>
                  <a:schemeClr val="bg1"/>
                </a:solidFill>
              </a:rPr>
              <a:t>LangGraph ReAct Agent</a:t>
            </a:r>
            <a:endParaRPr lang="en-US" sz="1500" dirty="0"/>
          </a:p>
          <a:p>
            <a:pPr algn="ctr" indent="0" marL="0">
              <a:buNone/>
            </a:pPr>
            <a:r>
              <a:rPr lang="en-US" sz="1300" dirty="0">
                <a:solidFill>
                  <a:schemeClr val="bg1"/>
                </a:solidFill>
              </a:rPr>
              <a:t>agent/graph.py</a:t>
            </a:r>
            <a:endParaRPr lang="en-US" sz="1500" dirty="0"/>
          </a:p>
        </p:txBody>
      </p:sp>
      <p:sp>
        <p:nvSpPr>
          <p:cNvPr id="15" name="Shape 12"/>
          <p:cNvSpPr/>
          <p:nvPr/>
        </p:nvSpPr>
        <p:spPr>
          <a:xfrm>
            <a:off x="10378440" y="2423160"/>
            <a:ext cx="0" cy="411480"/>
          </a:xfrm>
          <a:prstGeom prst="line">
            <a:avLst/>
          </a:prstGeom>
          <a:noFill/>
          <a:ln w="25400">
            <a:solidFill>
              <a:schemeClr val="accent1"/>
            </a:solidFill>
            <a:prstDash val="solid"/>
            <a:headEnd type="triangle"/>
            <a:tailEnd type="triangle"/>
          </a:ln>
        </p:spPr>
      </p:sp>
      <p:sp>
        <p:nvSpPr>
          <p:cNvPr id="16" name="arch-gemini"/>
          <p:cNvSpPr/>
          <p:nvPr/>
        </p:nvSpPr>
        <p:spPr>
          <a:xfrm>
            <a:off x="9189720" y="2880360"/>
            <a:ext cx="2377440" cy="777240"/>
          </a:xfrm>
          <a:prstGeom prst="roundRect">
            <a:avLst>
              <a:gd name="adj" fmla="val 14118"/>
            </a:avLst>
          </a:prstGeom>
          <a:solidFill>
            <a:schemeClr val="tx2"/>
          </a:solidFill>
          <a:ln/>
        </p:spPr>
      </p:sp>
      <p:sp>
        <p:nvSpPr>
          <p:cNvPr id="17" name="Text 14"/>
          <p:cNvSpPr txBox="1"/>
          <p:nvPr/>
        </p:nvSpPr>
        <p:spPr>
          <a:xfrm>
            <a:off x="9189720" y="2880360"/>
            <a:ext cx="2377440" cy="777240"/>
          </a:xfrm>
          <a:prstGeom prst="rect">
            <a:avLst/>
          </a:prstGeom>
          <a:noFill/>
          <a:ln/>
        </p:spPr>
        <p:txBody>
          <a:bodyPr wrap="square" lIns="0" tIns="0" rIns="0" bIns="0" rtlCol="0" anchor="ctr"/>
          <a:lstStyle/>
          <a:p>
            <a:pPr algn="ctr" indent="0" marL="0">
              <a:buNone/>
            </a:pPr>
            <a:r>
              <a:rPr lang="en-US" sz="1500" b="1" dirty="0">
                <a:solidFill>
                  <a:schemeClr val="bg1"/>
                </a:solidFill>
              </a:rPr>
              <a:t>Gemini 2.5 Flash</a:t>
            </a:r>
            <a:endParaRPr lang="en-US" sz="1500" dirty="0"/>
          </a:p>
        </p:txBody>
      </p:sp>
      <p:sp>
        <p:nvSpPr>
          <p:cNvPr id="18" name="Text 15"/>
          <p:cNvSpPr txBox="1"/>
          <p:nvPr/>
        </p:nvSpPr>
        <p:spPr>
          <a:xfrm>
            <a:off x="822960" y="2926080"/>
            <a:ext cx="7680960" cy="640080"/>
          </a:xfrm>
          <a:prstGeom prst="rect">
            <a:avLst/>
          </a:prstGeom>
          <a:noFill/>
          <a:ln/>
        </p:spPr>
        <p:txBody>
          <a:bodyPr wrap="square" lIns="0" tIns="0" rIns="0" bIns="0" rtlCol="0" anchor="t"/>
          <a:lstStyle/>
          <a:p>
            <a:pPr algn="r" indent="0" marL="0">
              <a:buNone/>
            </a:pPr>
            <a:r>
              <a:rPr lang="en-US" sz="1400" dirty="0">
                <a:solidFill>
                  <a:schemeClr val="accent6"/>
                </a:solidFill>
              </a:rPr>
              <a:t>Request flows left to right. The agent consults Gemini, which may select a tool.</a:t>
            </a:r>
            <a:endParaRPr lang="en-US" sz="1400" dirty="0"/>
          </a:p>
        </p:txBody>
      </p:sp>
      <p:sp>
        <p:nvSpPr>
          <p:cNvPr id="19" name="Shape 16"/>
          <p:cNvSpPr/>
          <p:nvPr/>
        </p:nvSpPr>
        <p:spPr>
          <a:xfrm>
            <a:off x="10378440" y="3675888"/>
            <a:ext cx="0" cy="411480"/>
          </a:xfrm>
          <a:prstGeom prst="line">
            <a:avLst/>
          </a:prstGeom>
          <a:noFill/>
          <a:ln w="25400">
            <a:solidFill>
              <a:schemeClr val="accent1"/>
            </a:solidFill>
            <a:prstDash val="solid"/>
            <a:tailEnd type="triangle"/>
          </a:ln>
        </p:spPr>
      </p:sp>
      <p:sp>
        <p:nvSpPr>
          <p:cNvPr id="20" name="arch-tool-layer"/>
          <p:cNvSpPr/>
          <p:nvPr/>
        </p:nvSpPr>
        <p:spPr>
          <a:xfrm>
            <a:off x="640080" y="4114800"/>
            <a:ext cx="11109960" cy="1005840"/>
          </a:xfrm>
          <a:prstGeom prst="roundRect">
            <a:avLst>
              <a:gd name="adj" fmla="val 10909"/>
            </a:avLst>
          </a:prstGeom>
          <a:solidFill>
            <a:schemeClr val="bg2"/>
          </a:solidFill>
          <a:ln/>
        </p:spPr>
      </p:sp>
      <p:sp>
        <p:nvSpPr>
          <p:cNvPr id="21" name="arch-tool-0"/>
          <p:cNvSpPr/>
          <p:nvPr/>
        </p:nvSpPr>
        <p:spPr>
          <a:xfrm>
            <a:off x="822960" y="4297680"/>
            <a:ext cx="1417320" cy="640080"/>
          </a:xfrm>
          <a:prstGeom prst="roundRect">
            <a:avLst>
              <a:gd name="adj" fmla="val 17143"/>
            </a:avLst>
          </a:prstGeom>
          <a:solidFill>
            <a:schemeClr val="accent1"/>
          </a:solidFill>
          <a:ln/>
        </p:spPr>
      </p:sp>
      <p:sp>
        <p:nvSpPr>
          <p:cNvPr id="22" name="Text 19"/>
          <p:cNvSpPr txBox="1"/>
          <p:nvPr/>
        </p:nvSpPr>
        <p:spPr>
          <a:xfrm>
            <a:off x="822960" y="4297680"/>
            <a:ext cx="1417320" cy="640080"/>
          </a:xfrm>
          <a:prstGeom prst="rect">
            <a:avLst/>
          </a:prstGeom>
          <a:noFill/>
          <a:ln/>
        </p:spPr>
        <p:txBody>
          <a:bodyPr wrap="square" lIns="0" tIns="0" rIns="0" bIns="0" rtlCol="0" anchor="ctr"/>
          <a:lstStyle/>
          <a:p>
            <a:pPr algn="ctr" indent="0" marL="0">
              <a:buNone/>
            </a:pPr>
            <a:r>
              <a:rPr lang="en-US" sz="1400" b="1" dirty="0">
                <a:solidFill>
                  <a:schemeClr val="bg1"/>
                </a:solidFill>
              </a:rPr>
              <a:t>Calculator</a:t>
            </a:r>
            <a:endParaRPr lang="en-US" sz="1400" dirty="0"/>
          </a:p>
        </p:txBody>
      </p:sp>
      <p:sp>
        <p:nvSpPr>
          <p:cNvPr id="23" name="arch-tool-1"/>
          <p:cNvSpPr/>
          <p:nvPr/>
        </p:nvSpPr>
        <p:spPr>
          <a:xfrm>
            <a:off x="2377440" y="4297680"/>
            <a:ext cx="1417320" cy="640080"/>
          </a:xfrm>
          <a:prstGeom prst="roundRect">
            <a:avLst>
              <a:gd name="adj" fmla="val 17143"/>
            </a:avLst>
          </a:prstGeom>
          <a:solidFill>
            <a:schemeClr val="accent1"/>
          </a:solidFill>
          <a:ln/>
        </p:spPr>
      </p:sp>
      <p:sp>
        <p:nvSpPr>
          <p:cNvPr id="24" name="Text 21"/>
          <p:cNvSpPr txBox="1"/>
          <p:nvPr/>
        </p:nvSpPr>
        <p:spPr>
          <a:xfrm>
            <a:off x="2377440" y="4297680"/>
            <a:ext cx="1417320" cy="640080"/>
          </a:xfrm>
          <a:prstGeom prst="rect">
            <a:avLst/>
          </a:prstGeom>
          <a:noFill/>
          <a:ln/>
        </p:spPr>
        <p:txBody>
          <a:bodyPr wrap="square" lIns="0" tIns="0" rIns="0" bIns="0" rtlCol="0" anchor="ctr"/>
          <a:lstStyle/>
          <a:p>
            <a:pPr algn="ctr" indent="0" marL="0">
              <a:buNone/>
            </a:pPr>
            <a:r>
              <a:rPr lang="en-US" sz="1400" b="1" dirty="0">
                <a:solidFill>
                  <a:schemeClr val="bg1"/>
                </a:solidFill>
              </a:rPr>
              <a:t>Wikipedia</a:t>
            </a:r>
            <a:endParaRPr lang="en-US" sz="1400" dirty="0"/>
          </a:p>
        </p:txBody>
      </p:sp>
      <p:sp>
        <p:nvSpPr>
          <p:cNvPr id="25" name="arch-tool-2"/>
          <p:cNvSpPr/>
          <p:nvPr/>
        </p:nvSpPr>
        <p:spPr>
          <a:xfrm>
            <a:off x="3931920" y="4297680"/>
            <a:ext cx="1417320" cy="640080"/>
          </a:xfrm>
          <a:prstGeom prst="roundRect">
            <a:avLst>
              <a:gd name="adj" fmla="val 17143"/>
            </a:avLst>
          </a:prstGeom>
          <a:solidFill>
            <a:schemeClr val="accent1"/>
          </a:solidFill>
          <a:ln/>
        </p:spPr>
      </p:sp>
      <p:sp>
        <p:nvSpPr>
          <p:cNvPr id="26" name="Text 23"/>
          <p:cNvSpPr txBox="1"/>
          <p:nvPr/>
        </p:nvSpPr>
        <p:spPr>
          <a:xfrm>
            <a:off x="3931920" y="4297680"/>
            <a:ext cx="1417320" cy="640080"/>
          </a:xfrm>
          <a:prstGeom prst="rect">
            <a:avLst/>
          </a:prstGeom>
          <a:noFill/>
          <a:ln/>
        </p:spPr>
        <p:txBody>
          <a:bodyPr wrap="square" lIns="0" tIns="0" rIns="0" bIns="0" rtlCol="0" anchor="ctr"/>
          <a:lstStyle/>
          <a:p>
            <a:pPr algn="ctr" indent="0" marL="0">
              <a:buNone/>
            </a:pPr>
            <a:r>
              <a:rPr lang="en-US" sz="1400" b="1" dirty="0">
                <a:solidFill>
                  <a:schemeClr val="bg1"/>
                </a:solidFill>
              </a:rPr>
              <a:t>Web Search</a:t>
            </a:r>
            <a:endParaRPr lang="en-US" sz="1400" dirty="0"/>
          </a:p>
        </p:txBody>
      </p:sp>
      <p:sp>
        <p:nvSpPr>
          <p:cNvPr id="27" name="arch-tool-3"/>
          <p:cNvSpPr/>
          <p:nvPr/>
        </p:nvSpPr>
        <p:spPr>
          <a:xfrm>
            <a:off x="5486400" y="4297680"/>
            <a:ext cx="1417320" cy="640080"/>
          </a:xfrm>
          <a:prstGeom prst="roundRect">
            <a:avLst>
              <a:gd name="adj" fmla="val 17143"/>
            </a:avLst>
          </a:prstGeom>
          <a:solidFill>
            <a:schemeClr val="accent1"/>
          </a:solidFill>
          <a:ln/>
        </p:spPr>
      </p:sp>
      <p:sp>
        <p:nvSpPr>
          <p:cNvPr id="28" name="Text 25"/>
          <p:cNvSpPr txBox="1"/>
          <p:nvPr/>
        </p:nvSpPr>
        <p:spPr>
          <a:xfrm>
            <a:off x="5486400" y="4297680"/>
            <a:ext cx="1417320" cy="640080"/>
          </a:xfrm>
          <a:prstGeom prst="rect">
            <a:avLst/>
          </a:prstGeom>
          <a:noFill/>
          <a:ln/>
        </p:spPr>
        <p:txBody>
          <a:bodyPr wrap="square" lIns="0" tIns="0" rIns="0" bIns="0" rtlCol="0" anchor="ctr"/>
          <a:lstStyle/>
          <a:p>
            <a:pPr algn="ctr" indent="0" marL="0">
              <a:buNone/>
            </a:pPr>
            <a:r>
              <a:rPr lang="en-US" sz="1400" b="1" dirty="0">
                <a:solidFill>
                  <a:schemeClr val="bg1"/>
                </a:solidFill>
              </a:rPr>
              <a:t>Weather</a:t>
            </a:r>
            <a:endParaRPr lang="en-US" sz="1400" dirty="0"/>
          </a:p>
        </p:txBody>
      </p:sp>
      <p:sp>
        <p:nvSpPr>
          <p:cNvPr id="29" name="arch-tool-4"/>
          <p:cNvSpPr/>
          <p:nvPr/>
        </p:nvSpPr>
        <p:spPr>
          <a:xfrm>
            <a:off x="7040880" y="4297680"/>
            <a:ext cx="1417320" cy="640080"/>
          </a:xfrm>
          <a:prstGeom prst="roundRect">
            <a:avLst>
              <a:gd name="adj" fmla="val 17143"/>
            </a:avLst>
          </a:prstGeom>
          <a:solidFill>
            <a:schemeClr val="accent1"/>
          </a:solidFill>
          <a:ln/>
        </p:spPr>
      </p:sp>
      <p:sp>
        <p:nvSpPr>
          <p:cNvPr id="30" name="Text 27"/>
          <p:cNvSpPr txBox="1"/>
          <p:nvPr/>
        </p:nvSpPr>
        <p:spPr>
          <a:xfrm>
            <a:off x="7040880" y="4297680"/>
            <a:ext cx="1417320" cy="640080"/>
          </a:xfrm>
          <a:prstGeom prst="rect">
            <a:avLst/>
          </a:prstGeom>
          <a:noFill/>
          <a:ln/>
        </p:spPr>
        <p:txBody>
          <a:bodyPr wrap="square" lIns="0" tIns="0" rIns="0" bIns="0" rtlCol="0" anchor="ctr"/>
          <a:lstStyle/>
          <a:p>
            <a:pPr algn="ctr" indent="0" marL="0">
              <a:buNone/>
            </a:pPr>
            <a:r>
              <a:rPr lang="en-US" sz="1400" b="1" dirty="0">
                <a:solidFill>
                  <a:schemeClr val="bg1"/>
                </a:solidFill>
              </a:rPr>
              <a:t>SQL</a:t>
            </a:r>
            <a:endParaRPr lang="en-US" sz="1400" dirty="0"/>
          </a:p>
        </p:txBody>
      </p:sp>
      <p:sp>
        <p:nvSpPr>
          <p:cNvPr id="31" name="arch-tool-5"/>
          <p:cNvSpPr/>
          <p:nvPr/>
        </p:nvSpPr>
        <p:spPr>
          <a:xfrm>
            <a:off x="8595360" y="4297680"/>
            <a:ext cx="1417320" cy="640080"/>
          </a:xfrm>
          <a:prstGeom prst="roundRect">
            <a:avLst>
              <a:gd name="adj" fmla="val 17143"/>
            </a:avLst>
          </a:prstGeom>
          <a:solidFill>
            <a:schemeClr val="accent1"/>
          </a:solidFill>
          <a:ln/>
        </p:spPr>
      </p:sp>
      <p:sp>
        <p:nvSpPr>
          <p:cNvPr id="32" name="Text 29"/>
          <p:cNvSpPr txBox="1"/>
          <p:nvPr/>
        </p:nvSpPr>
        <p:spPr>
          <a:xfrm>
            <a:off x="8595360" y="4297680"/>
            <a:ext cx="1417320" cy="640080"/>
          </a:xfrm>
          <a:prstGeom prst="rect">
            <a:avLst/>
          </a:prstGeom>
          <a:noFill/>
          <a:ln/>
        </p:spPr>
        <p:txBody>
          <a:bodyPr wrap="square" lIns="0" tIns="0" rIns="0" bIns="0" rtlCol="0" anchor="ctr"/>
          <a:lstStyle/>
          <a:p>
            <a:pPr algn="ctr" indent="0" marL="0">
              <a:buNone/>
            </a:pPr>
            <a:r>
              <a:rPr lang="en-US" sz="1400" b="1" dirty="0">
                <a:solidFill>
                  <a:schemeClr val="bg1"/>
                </a:solidFill>
              </a:rPr>
              <a:t>YouTube</a:t>
            </a:r>
            <a:endParaRPr lang="en-US" sz="1400" dirty="0"/>
          </a:p>
        </p:txBody>
      </p:sp>
      <p:sp>
        <p:nvSpPr>
          <p:cNvPr id="33" name="arch-tool-6"/>
          <p:cNvSpPr/>
          <p:nvPr/>
        </p:nvSpPr>
        <p:spPr>
          <a:xfrm>
            <a:off x="10149840" y="4297680"/>
            <a:ext cx="1417320" cy="640080"/>
          </a:xfrm>
          <a:prstGeom prst="roundRect">
            <a:avLst>
              <a:gd name="adj" fmla="val 17143"/>
            </a:avLst>
          </a:prstGeom>
          <a:solidFill>
            <a:schemeClr val="accent1"/>
          </a:solidFill>
          <a:ln/>
        </p:spPr>
      </p:sp>
      <p:sp>
        <p:nvSpPr>
          <p:cNvPr id="34" name="Text 31"/>
          <p:cNvSpPr txBox="1"/>
          <p:nvPr/>
        </p:nvSpPr>
        <p:spPr>
          <a:xfrm>
            <a:off x="10149840" y="4297680"/>
            <a:ext cx="1417320" cy="640080"/>
          </a:xfrm>
          <a:prstGeom prst="rect">
            <a:avLst/>
          </a:prstGeom>
          <a:noFill/>
          <a:ln/>
        </p:spPr>
        <p:txBody>
          <a:bodyPr wrap="square" lIns="0" tIns="0" rIns="0" bIns="0" rtlCol="0" anchor="ctr"/>
          <a:lstStyle/>
          <a:p>
            <a:pPr algn="ctr" indent="0" marL="0">
              <a:buNone/>
            </a:pPr>
            <a:r>
              <a:rPr lang="en-US" sz="1400" b="1" dirty="0">
                <a:solidFill>
                  <a:schemeClr val="bg1"/>
                </a:solidFill>
              </a:rPr>
              <a:t>Gmail</a:t>
            </a:r>
            <a:endParaRPr lang="en-US" sz="1400" dirty="0"/>
          </a:p>
        </p:txBody>
      </p:sp>
      <p:sp>
        <p:nvSpPr>
          <p:cNvPr id="35" name="Text 32"/>
          <p:cNvSpPr txBox="1"/>
          <p:nvPr/>
        </p:nvSpPr>
        <p:spPr>
          <a:xfrm>
            <a:off x="640080" y="5440680"/>
            <a:ext cx="11109960" cy="548640"/>
          </a:xfrm>
          <a:prstGeom prst="rect">
            <a:avLst/>
          </a:prstGeom>
          <a:noFill/>
          <a:ln/>
        </p:spPr>
        <p:txBody>
          <a:bodyPr wrap="square" lIns="0" tIns="0" rIns="0" bIns="0" rtlCol="0" anchor="ctr"/>
          <a:lstStyle/>
          <a:p>
            <a:pPr algn="ctr" indent="0" marL="0">
              <a:buNone/>
            </a:pPr>
            <a:r>
              <a:rPr lang="en-US" sz="1600" b="1" dirty="0">
                <a:solidFill>
                  <a:schemeClr val="accent3"/>
                </a:solidFill>
              </a:rPr>
              <a:t>Return path:  Tool result  →  Agent  →  Final response  →  Flask JSON  →  Browser displays answer</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How the ReAct Agent Works</a:t>
            </a:r>
            <a:endParaRPr lang="en-US" sz="3400" dirty="0"/>
          </a:p>
        </p:txBody>
      </p:sp>
      <p:sp>
        <p:nvSpPr>
          <p:cNvPr id="4" name="react-card-0"/>
          <p:cNvSpPr/>
          <p:nvPr/>
        </p:nvSpPr>
        <p:spPr>
          <a:xfrm>
            <a:off x="548640" y="1463040"/>
            <a:ext cx="1691640" cy="2651760"/>
          </a:xfrm>
          <a:prstGeom prst="roundRect">
            <a:avLst>
              <a:gd name="adj" fmla="val 6486"/>
            </a:avLst>
          </a:prstGeom>
          <a:solidFill>
            <a:schemeClr val="bg2"/>
          </a:solidFill>
          <a:ln/>
        </p:spPr>
      </p:sp>
      <p:sp>
        <p:nvSpPr>
          <p:cNvPr id="5" name="Shape 2"/>
          <p:cNvSpPr/>
          <p:nvPr/>
        </p:nvSpPr>
        <p:spPr>
          <a:xfrm>
            <a:off x="1074420" y="1691640"/>
            <a:ext cx="640080" cy="640080"/>
          </a:xfrm>
          <a:prstGeom prst="ellipse">
            <a:avLst/>
          </a:prstGeom>
          <a:solidFill>
            <a:schemeClr val="accent1"/>
          </a:solidFill>
          <a:ln/>
        </p:spPr>
      </p:sp>
      <p:sp>
        <p:nvSpPr>
          <p:cNvPr id="6" name="Text 3"/>
          <p:cNvSpPr txBox="1"/>
          <p:nvPr/>
        </p:nvSpPr>
        <p:spPr>
          <a:xfrm>
            <a:off x="107442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640080" y="2514600"/>
            <a:ext cx="1508760" cy="365760"/>
          </a:xfrm>
          <a:prstGeom prst="rect">
            <a:avLst/>
          </a:prstGeom>
          <a:noFill/>
          <a:ln/>
        </p:spPr>
        <p:txBody>
          <a:bodyPr wrap="square" lIns="0" tIns="0" rIns="0" bIns="0" rtlCol="0" anchor="t"/>
          <a:lstStyle/>
          <a:p>
            <a:pPr algn="ctr" indent="0" marL="0">
              <a:buNone/>
            </a:pPr>
            <a:r>
              <a:rPr lang="en-US" sz="1700" b="1" dirty="0">
                <a:solidFill>
                  <a:schemeClr val="tx2"/>
                </a:solidFill>
              </a:rPr>
              <a:t>Receive</a:t>
            </a:r>
            <a:endParaRPr lang="en-US" sz="1700" dirty="0"/>
          </a:p>
        </p:txBody>
      </p:sp>
      <p:sp>
        <p:nvSpPr>
          <p:cNvPr id="8" name="Text 5"/>
          <p:cNvSpPr txBox="1"/>
          <p:nvPr/>
        </p:nvSpPr>
        <p:spPr>
          <a:xfrm>
            <a:off x="685800" y="2971800"/>
            <a:ext cx="1417320" cy="914400"/>
          </a:xfrm>
          <a:prstGeom prst="rect">
            <a:avLst/>
          </a:prstGeom>
          <a:noFill/>
          <a:ln/>
        </p:spPr>
        <p:txBody>
          <a:bodyPr wrap="square" lIns="0" tIns="0" rIns="0" bIns="0" rtlCol="0" anchor="t"/>
          <a:lstStyle/>
          <a:p>
            <a:pPr algn="ctr" indent="0" marL="0">
              <a:buNone/>
            </a:pPr>
            <a:r>
              <a:rPr lang="en-US" sz="1400" dirty="0">
                <a:solidFill>
                  <a:schemeClr val="tx1"/>
                </a:solidFill>
              </a:rPr>
              <a:t>User asks a question</a:t>
            </a:r>
            <a:endParaRPr lang="en-US" sz="1400" dirty="0"/>
          </a:p>
        </p:txBody>
      </p:sp>
      <p:sp>
        <p:nvSpPr>
          <p:cNvPr id="9" name="react-card-1"/>
          <p:cNvSpPr/>
          <p:nvPr/>
        </p:nvSpPr>
        <p:spPr>
          <a:xfrm>
            <a:off x="2423160" y="1463040"/>
            <a:ext cx="1691640" cy="2651760"/>
          </a:xfrm>
          <a:prstGeom prst="roundRect">
            <a:avLst>
              <a:gd name="adj" fmla="val 6486"/>
            </a:avLst>
          </a:prstGeom>
          <a:solidFill>
            <a:schemeClr val="bg2"/>
          </a:solidFill>
          <a:ln/>
        </p:spPr>
      </p:sp>
      <p:sp>
        <p:nvSpPr>
          <p:cNvPr id="10" name="Shape 7"/>
          <p:cNvSpPr/>
          <p:nvPr/>
        </p:nvSpPr>
        <p:spPr>
          <a:xfrm>
            <a:off x="2948940" y="1691640"/>
            <a:ext cx="640080" cy="640080"/>
          </a:xfrm>
          <a:prstGeom prst="ellipse">
            <a:avLst/>
          </a:prstGeom>
          <a:solidFill>
            <a:schemeClr val="accent1"/>
          </a:solidFill>
          <a:ln/>
        </p:spPr>
      </p:sp>
      <p:sp>
        <p:nvSpPr>
          <p:cNvPr id="11" name="Text 8"/>
          <p:cNvSpPr txBox="1"/>
          <p:nvPr/>
        </p:nvSpPr>
        <p:spPr>
          <a:xfrm>
            <a:off x="294894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2514600" y="2514600"/>
            <a:ext cx="1508760" cy="365760"/>
          </a:xfrm>
          <a:prstGeom prst="rect">
            <a:avLst/>
          </a:prstGeom>
          <a:noFill/>
          <a:ln/>
        </p:spPr>
        <p:txBody>
          <a:bodyPr wrap="square" lIns="0" tIns="0" rIns="0" bIns="0" rtlCol="0" anchor="t"/>
          <a:lstStyle/>
          <a:p>
            <a:pPr algn="ctr" indent="0" marL="0">
              <a:buNone/>
            </a:pPr>
            <a:r>
              <a:rPr lang="en-US" sz="1700" b="1" dirty="0">
                <a:solidFill>
                  <a:schemeClr val="tx2"/>
                </a:solidFill>
              </a:rPr>
              <a:t>Interpret</a:t>
            </a:r>
            <a:endParaRPr lang="en-US" sz="1700" dirty="0"/>
          </a:p>
        </p:txBody>
      </p:sp>
      <p:sp>
        <p:nvSpPr>
          <p:cNvPr id="13" name="Text 10"/>
          <p:cNvSpPr txBox="1"/>
          <p:nvPr/>
        </p:nvSpPr>
        <p:spPr>
          <a:xfrm>
            <a:off x="2560320" y="2971800"/>
            <a:ext cx="1417320" cy="914400"/>
          </a:xfrm>
          <a:prstGeom prst="rect">
            <a:avLst/>
          </a:prstGeom>
          <a:noFill/>
          <a:ln/>
        </p:spPr>
        <p:txBody>
          <a:bodyPr wrap="square" lIns="0" tIns="0" rIns="0" bIns="0" rtlCol="0" anchor="t"/>
          <a:lstStyle/>
          <a:p>
            <a:pPr algn="ctr" indent="0" marL="0">
              <a:buNone/>
            </a:pPr>
            <a:r>
              <a:rPr lang="en-US" sz="1400" dirty="0">
                <a:solidFill>
                  <a:schemeClr val="tx1"/>
                </a:solidFill>
              </a:rPr>
              <a:t>Model reads the intent</a:t>
            </a:r>
            <a:endParaRPr lang="en-US" sz="1400" dirty="0"/>
          </a:p>
        </p:txBody>
      </p:sp>
      <p:sp>
        <p:nvSpPr>
          <p:cNvPr id="14" name="react-card-2"/>
          <p:cNvSpPr/>
          <p:nvPr/>
        </p:nvSpPr>
        <p:spPr>
          <a:xfrm>
            <a:off x="4297680" y="1463040"/>
            <a:ext cx="1691640" cy="2651760"/>
          </a:xfrm>
          <a:prstGeom prst="roundRect">
            <a:avLst>
              <a:gd name="adj" fmla="val 6486"/>
            </a:avLst>
          </a:prstGeom>
          <a:solidFill>
            <a:schemeClr val="bg2"/>
          </a:solidFill>
          <a:ln/>
        </p:spPr>
      </p:sp>
      <p:sp>
        <p:nvSpPr>
          <p:cNvPr id="15" name="Shape 12"/>
          <p:cNvSpPr/>
          <p:nvPr/>
        </p:nvSpPr>
        <p:spPr>
          <a:xfrm>
            <a:off x="4823460" y="1691640"/>
            <a:ext cx="640080" cy="640080"/>
          </a:xfrm>
          <a:prstGeom prst="ellipse">
            <a:avLst/>
          </a:prstGeom>
          <a:solidFill>
            <a:schemeClr val="accent2"/>
          </a:solidFill>
          <a:ln/>
        </p:spPr>
      </p:sp>
      <p:sp>
        <p:nvSpPr>
          <p:cNvPr id="16" name="Text 13"/>
          <p:cNvSpPr txBox="1"/>
          <p:nvPr/>
        </p:nvSpPr>
        <p:spPr>
          <a:xfrm>
            <a:off x="482346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4389120" y="2514600"/>
            <a:ext cx="1508760" cy="365760"/>
          </a:xfrm>
          <a:prstGeom prst="rect">
            <a:avLst/>
          </a:prstGeom>
          <a:noFill/>
          <a:ln/>
        </p:spPr>
        <p:txBody>
          <a:bodyPr wrap="square" lIns="0" tIns="0" rIns="0" bIns="0" rtlCol="0" anchor="t"/>
          <a:lstStyle/>
          <a:p>
            <a:pPr algn="ctr" indent="0" marL="0">
              <a:buNone/>
            </a:pPr>
            <a:r>
              <a:rPr lang="en-US" sz="1700" b="1" dirty="0">
                <a:solidFill>
                  <a:schemeClr val="tx2"/>
                </a:solidFill>
              </a:rPr>
              <a:t>Decide</a:t>
            </a:r>
            <a:endParaRPr lang="en-US" sz="1700" dirty="0"/>
          </a:p>
        </p:txBody>
      </p:sp>
      <p:sp>
        <p:nvSpPr>
          <p:cNvPr id="18" name="Text 15"/>
          <p:cNvSpPr txBox="1"/>
          <p:nvPr/>
        </p:nvSpPr>
        <p:spPr>
          <a:xfrm>
            <a:off x="4434840" y="2971800"/>
            <a:ext cx="1417320" cy="914400"/>
          </a:xfrm>
          <a:prstGeom prst="rect">
            <a:avLst/>
          </a:prstGeom>
          <a:noFill/>
          <a:ln/>
        </p:spPr>
        <p:txBody>
          <a:bodyPr wrap="square" lIns="0" tIns="0" rIns="0" bIns="0" rtlCol="0" anchor="t"/>
          <a:lstStyle/>
          <a:p>
            <a:pPr algn="ctr" indent="0" marL="0">
              <a:buNone/>
            </a:pPr>
            <a:r>
              <a:rPr lang="en-US" sz="1400" dirty="0">
                <a:solidFill>
                  <a:schemeClr val="tx1"/>
                </a:solidFill>
              </a:rPr>
              <a:t>Is a tool needed?</a:t>
            </a:r>
            <a:endParaRPr lang="en-US" sz="1400" dirty="0"/>
          </a:p>
        </p:txBody>
      </p:sp>
      <p:sp>
        <p:nvSpPr>
          <p:cNvPr id="19" name="react-card-3"/>
          <p:cNvSpPr/>
          <p:nvPr/>
        </p:nvSpPr>
        <p:spPr>
          <a:xfrm>
            <a:off x="6172200" y="1463040"/>
            <a:ext cx="1691640" cy="2651760"/>
          </a:xfrm>
          <a:prstGeom prst="roundRect">
            <a:avLst>
              <a:gd name="adj" fmla="val 6486"/>
            </a:avLst>
          </a:prstGeom>
          <a:solidFill>
            <a:schemeClr val="bg2"/>
          </a:solidFill>
          <a:ln/>
        </p:spPr>
      </p:sp>
      <p:sp>
        <p:nvSpPr>
          <p:cNvPr id="20" name="Shape 17"/>
          <p:cNvSpPr/>
          <p:nvPr/>
        </p:nvSpPr>
        <p:spPr>
          <a:xfrm>
            <a:off x="6697980" y="1691640"/>
            <a:ext cx="640080" cy="640080"/>
          </a:xfrm>
          <a:prstGeom prst="ellipse">
            <a:avLst/>
          </a:prstGeom>
          <a:solidFill>
            <a:schemeClr val="accent2"/>
          </a:solidFill>
          <a:ln/>
        </p:spPr>
      </p:sp>
      <p:sp>
        <p:nvSpPr>
          <p:cNvPr id="21" name="Text 18"/>
          <p:cNvSpPr txBox="1"/>
          <p:nvPr/>
        </p:nvSpPr>
        <p:spPr>
          <a:xfrm>
            <a:off x="669798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6263640" y="2514600"/>
            <a:ext cx="1508760" cy="365760"/>
          </a:xfrm>
          <a:prstGeom prst="rect">
            <a:avLst/>
          </a:prstGeom>
          <a:noFill/>
          <a:ln/>
        </p:spPr>
        <p:txBody>
          <a:bodyPr wrap="square" lIns="0" tIns="0" rIns="0" bIns="0" rtlCol="0" anchor="t"/>
          <a:lstStyle/>
          <a:p>
            <a:pPr algn="ctr" indent="0" marL="0">
              <a:buNone/>
            </a:pPr>
            <a:r>
              <a:rPr lang="en-US" sz="1700" b="1" dirty="0">
                <a:solidFill>
                  <a:schemeClr val="tx2"/>
                </a:solidFill>
              </a:rPr>
              <a:t>Call tool</a:t>
            </a:r>
            <a:endParaRPr lang="en-US" sz="1700" dirty="0"/>
          </a:p>
        </p:txBody>
      </p:sp>
      <p:sp>
        <p:nvSpPr>
          <p:cNvPr id="23" name="Text 20"/>
          <p:cNvSpPr txBox="1"/>
          <p:nvPr/>
        </p:nvSpPr>
        <p:spPr>
          <a:xfrm>
            <a:off x="6309360" y="2971800"/>
            <a:ext cx="1417320" cy="914400"/>
          </a:xfrm>
          <a:prstGeom prst="rect">
            <a:avLst/>
          </a:prstGeom>
          <a:noFill/>
          <a:ln/>
        </p:spPr>
        <p:txBody>
          <a:bodyPr wrap="square" lIns="0" tIns="0" rIns="0" bIns="0" rtlCol="0" anchor="t"/>
          <a:lstStyle/>
          <a:p>
            <a:pPr algn="ctr" indent="0" marL="0">
              <a:buNone/>
            </a:pPr>
            <a:r>
              <a:rPr lang="en-US" sz="1400" dirty="0">
                <a:solidFill>
                  <a:schemeClr val="tx1"/>
                </a:solidFill>
              </a:rPr>
              <a:t>Run it, only if needed</a:t>
            </a:r>
            <a:endParaRPr lang="en-US" sz="1400" dirty="0"/>
          </a:p>
        </p:txBody>
      </p:sp>
      <p:sp>
        <p:nvSpPr>
          <p:cNvPr id="24" name="react-card-4"/>
          <p:cNvSpPr/>
          <p:nvPr/>
        </p:nvSpPr>
        <p:spPr>
          <a:xfrm>
            <a:off x="8046720" y="1463040"/>
            <a:ext cx="1691640" cy="2651760"/>
          </a:xfrm>
          <a:prstGeom prst="roundRect">
            <a:avLst>
              <a:gd name="adj" fmla="val 6486"/>
            </a:avLst>
          </a:prstGeom>
          <a:solidFill>
            <a:schemeClr val="bg2"/>
          </a:solidFill>
          <a:ln/>
        </p:spPr>
      </p:sp>
      <p:sp>
        <p:nvSpPr>
          <p:cNvPr id="25" name="Shape 22"/>
          <p:cNvSpPr/>
          <p:nvPr/>
        </p:nvSpPr>
        <p:spPr>
          <a:xfrm>
            <a:off x="8572500" y="1691640"/>
            <a:ext cx="640080" cy="640080"/>
          </a:xfrm>
          <a:prstGeom prst="ellipse">
            <a:avLst/>
          </a:prstGeom>
          <a:solidFill>
            <a:schemeClr val="accent1"/>
          </a:solidFill>
          <a:ln/>
        </p:spPr>
      </p:sp>
      <p:sp>
        <p:nvSpPr>
          <p:cNvPr id="26" name="Text 23"/>
          <p:cNvSpPr txBox="1"/>
          <p:nvPr/>
        </p:nvSpPr>
        <p:spPr>
          <a:xfrm>
            <a:off x="857250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7" name="Text 24"/>
          <p:cNvSpPr txBox="1"/>
          <p:nvPr/>
        </p:nvSpPr>
        <p:spPr>
          <a:xfrm>
            <a:off x="8138160" y="2514600"/>
            <a:ext cx="1508760" cy="365760"/>
          </a:xfrm>
          <a:prstGeom prst="rect">
            <a:avLst/>
          </a:prstGeom>
          <a:noFill/>
          <a:ln/>
        </p:spPr>
        <p:txBody>
          <a:bodyPr wrap="square" lIns="0" tIns="0" rIns="0" bIns="0" rtlCol="0" anchor="t"/>
          <a:lstStyle/>
          <a:p>
            <a:pPr algn="ctr" indent="0" marL="0">
              <a:buNone/>
            </a:pPr>
            <a:r>
              <a:rPr lang="en-US" sz="1700" b="1" dirty="0">
                <a:solidFill>
                  <a:schemeClr val="tx2"/>
                </a:solidFill>
              </a:rPr>
              <a:t>Observe</a:t>
            </a:r>
            <a:endParaRPr lang="en-US" sz="1700" dirty="0"/>
          </a:p>
        </p:txBody>
      </p:sp>
      <p:sp>
        <p:nvSpPr>
          <p:cNvPr id="28" name="Text 25"/>
          <p:cNvSpPr txBox="1"/>
          <p:nvPr/>
        </p:nvSpPr>
        <p:spPr>
          <a:xfrm>
            <a:off x="8183880" y="2971800"/>
            <a:ext cx="1417320" cy="914400"/>
          </a:xfrm>
          <a:prstGeom prst="rect">
            <a:avLst/>
          </a:prstGeom>
          <a:noFill/>
          <a:ln/>
        </p:spPr>
        <p:txBody>
          <a:bodyPr wrap="square" lIns="0" tIns="0" rIns="0" bIns="0" rtlCol="0" anchor="t"/>
          <a:lstStyle/>
          <a:p>
            <a:pPr algn="ctr" indent="0" marL="0">
              <a:buNone/>
            </a:pPr>
            <a:r>
              <a:rPr lang="en-US" sz="1400" dirty="0">
                <a:solidFill>
                  <a:schemeClr val="tx1"/>
                </a:solidFill>
              </a:rPr>
              <a:t>Read the tool result</a:t>
            </a:r>
            <a:endParaRPr lang="en-US" sz="1400" dirty="0"/>
          </a:p>
        </p:txBody>
      </p:sp>
      <p:sp>
        <p:nvSpPr>
          <p:cNvPr id="29" name="react-card-5"/>
          <p:cNvSpPr/>
          <p:nvPr/>
        </p:nvSpPr>
        <p:spPr>
          <a:xfrm>
            <a:off x="9921240" y="1463040"/>
            <a:ext cx="1691640" cy="2651760"/>
          </a:xfrm>
          <a:prstGeom prst="roundRect">
            <a:avLst>
              <a:gd name="adj" fmla="val 6486"/>
            </a:avLst>
          </a:prstGeom>
          <a:solidFill>
            <a:schemeClr val="bg2"/>
          </a:solidFill>
          <a:ln/>
        </p:spPr>
      </p:sp>
      <p:sp>
        <p:nvSpPr>
          <p:cNvPr id="30" name="Shape 27"/>
          <p:cNvSpPr/>
          <p:nvPr/>
        </p:nvSpPr>
        <p:spPr>
          <a:xfrm>
            <a:off x="10447020" y="1691640"/>
            <a:ext cx="640080" cy="640080"/>
          </a:xfrm>
          <a:prstGeom prst="ellipse">
            <a:avLst/>
          </a:prstGeom>
          <a:solidFill>
            <a:schemeClr val="accent1"/>
          </a:solidFill>
          <a:ln/>
        </p:spPr>
      </p:sp>
      <p:sp>
        <p:nvSpPr>
          <p:cNvPr id="31" name="Text 28"/>
          <p:cNvSpPr txBox="1"/>
          <p:nvPr/>
        </p:nvSpPr>
        <p:spPr>
          <a:xfrm>
            <a:off x="10447020" y="1691640"/>
            <a:ext cx="640080" cy="640080"/>
          </a:xfrm>
          <a:prstGeom prst="rect">
            <a:avLst/>
          </a:prstGeom>
          <a:no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2" name="Text 29"/>
          <p:cNvSpPr txBox="1"/>
          <p:nvPr/>
        </p:nvSpPr>
        <p:spPr>
          <a:xfrm>
            <a:off x="10012680" y="2514600"/>
            <a:ext cx="1508760" cy="365760"/>
          </a:xfrm>
          <a:prstGeom prst="rect">
            <a:avLst/>
          </a:prstGeom>
          <a:noFill/>
          <a:ln/>
        </p:spPr>
        <p:txBody>
          <a:bodyPr wrap="square" lIns="0" tIns="0" rIns="0" bIns="0" rtlCol="0" anchor="t"/>
          <a:lstStyle/>
          <a:p>
            <a:pPr algn="ctr" indent="0" marL="0">
              <a:buNone/>
            </a:pPr>
            <a:r>
              <a:rPr lang="en-US" sz="1700" b="1" dirty="0">
                <a:solidFill>
                  <a:schemeClr val="tx2"/>
                </a:solidFill>
              </a:rPr>
              <a:t>Respond</a:t>
            </a:r>
            <a:endParaRPr lang="en-US" sz="1700" dirty="0"/>
          </a:p>
        </p:txBody>
      </p:sp>
      <p:sp>
        <p:nvSpPr>
          <p:cNvPr id="33" name="Text 30"/>
          <p:cNvSpPr txBox="1"/>
          <p:nvPr/>
        </p:nvSpPr>
        <p:spPr>
          <a:xfrm>
            <a:off x="10058400" y="2971800"/>
            <a:ext cx="1417320" cy="914400"/>
          </a:xfrm>
          <a:prstGeom prst="rect">
            <a:avLst/>
          </a:prstGeom>
          <a:noFill/>
          <a:ln/>
        </p:spPr>
        <p:txBody>
          <a:bodyPr wrap="square" lIns="0" tIns="0" rIns="0" bIns="0" rtlCol="0" anchor="t"/>
          <a:lstStyle/>
          <a:p>
            <a:pPr algn="ctr" indent="0" marL="0">
              <a:buNone/>
            </a:pPr>
            <a:r>
              <a:rPr lang="en-US" sz="1400" dirty="0">
                <a:solidFill>
                  <a:schemeClr val="tx1"/>
                </a:solidFill>
              </a:rPr>
              <a:t>Write the final answer</a:t>
            </a:r>
            <a:endParaRPr lang="en-US" sz="1400" dirty="0"/>
          </a:p>
        </p:txBody>
      </p:sp>
      <p:sp>
        <p:nvSpPr>
          <p:cNvPr id="34" name="react-callout-1"/>
          <p:cNvSpPr/>
          <p:nvPr/>
        </p:nvSpPr>
        <p:spPr>
          <a:xfrm>
            <a:off x="548640" y="4526280"/>
            <a:ext cx="5440680" cy="1554480"/>
          </a:xfrm>
          <a:prstGeom prst="roundRect">
            <a:avLst>
              <a:gd name="adj" fmla="val 7059"/>
            </a:avLst>
          </a:prstGeom>
          <a:solidFill>
            <a:schemeClr val="tx2"/>
          </a:solidFill>
          <a:ln/>
        </p:spPr>
      </p:sp>
      <p:sp>
        <p:nvSpPr>
          <p:cNvPr id="35" name="Text 32"/>
          <p:cNvSpPr txBox="1"/>
          <p:nvPr/>
        </p:nvSpPr>
        <p:spPr>
          <a:xfrm>
            <a:off x="822960" y="4709160"/>
            <a:ext cx="4937760" cy="1280160"/>
          </a:xfrm>
          <a:prstGeom prst="rect">
            <a:avLst/>
          </a:prstGeom>
          <a:noFill/>
          <a:ln/>
        </p:spPr>
        <p:txBody>
          <a:bodyPr wrap="square" lIns="0" tIns="0" rIns="0" bIns="0" rtlCol="0" anchor="t"/>
          <a:lstStyle/>
          <a:p>
            <a:pPr indent="0" marL="0">
              <a:buNone/>
            </a:pPr>
            <a:r>
              <a:rPr lang="en-US" sz="1800" b="1" dirty="0">
                <a:solidFill>
                  <a:schemeClr val="accent4"/>
                </a:solidFill>
              </a:rPr>
              <a:t>The model decides</a:t>
            </a:r>
            <a:endParaRPr lang="en-US" sz="1400" dirty="0"/>
          </a:p>
          <a:p>
            <a:pPr indent="0" marL="0">
              <a:buNone/>
            </a:pPr>
            <a:r>
              <a:rPr lang="en-US" sz="1400" dirty="0">
                <a:solidFill>
                  <a:schemeClr val="bg1"/>
                </a:solidFill>
              </a:rPr>
              <a:t>Gemini picks tools from the question and each tool's description. It does not always call a tool; simple questions can be answered directly.</a:t>
            </a:r>
            <a:endParaRPr lang="en-US" sz="1400" dirty="0"/>
          </a:p>
        </p:txBody>
      </p:sp>
      <p:sp>
        <p:nvSpPr>
          <p:cNvPr id="36" name="react-callout-2"/>
          <p:cNvSpPr/>
          <p:nvPr/>
        </p:nvSpPr>
        <p:spPr>
          <a:xfrm>
            <a:off x="6172200" y="4526280"/>
            <a:ext cx="5440680" cy="1554480"/>
          </a:xfrm>
          <a:prstGeom prst="roundRect">
            <a:avLst>
              <a:gd name="adj" fmla="val 7059"/>
            </a:avLst>
          </a:prstGeom>
          <a:solidFill>
            <a:schemeClr val="accent1"/>
          </a:solidFill>
          <a:ln/>
        </p:spPr>
      </p:sp>
      <p:sp>
        <p:nvSpPr>
          <p:cNvPr id="37" name="Text 34"/>
          <p:cNvSpPr txBox="1"/>
          <p:nvPr/>
        </p:nvSpPr>
        <p:spPr>
          <a:xfrm>
            <a:off x="6446520" y="4709160"/>
            <a:ext cx="4937760" cy="1280160"/>
          </a:xfrm>
          <a:prstGeom prst="rect">
            <a:avLst/>
          </a:prstGeom>
          <a:noFill/>
          <a:ln/>
        </p:spPr>
        <p:txBody>
          <a:bodyPr wrap="square" lIns="0" tIns="0" rIns="0" bIns="0" rtlCol="0" anchor="t"/>
          <a:lstStyle/>
          <a:p>
            <a:pPr indent="0" marL="0">
              <a:buNone/>
            </a:pPr>
            <a:r>
              <a:rPr lang="en-US" sz="1800" b="1" dirty="0">
                <a:solidFill>
                  <a:schemeClr val="bg1"/>
                </a:solidFill>
              </a:rPr>
              <a:t>Steps 3–5 can repeat</a:t>
            </a:r>
            <a:endParaRPr lang="en-US" sz="1400" dirty="0"/>
          </a:p>
          <a:p>
            <a:pPr indent="0" marL="0">
              <a:buNone/>
            </a:pPr>
            <a:r>
              <a:rPr lang="en-US" sz="1400" dirty="0">
                <a:solidFill>
                  <a:schemeClr val="bg1"/>
                </a:solidFill>
              </a:rPr>
              <a:t>When a question needs more than one tool, the agent loops: decide, call, observe, until it can answer.</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The Seven Tools</a:t>
            </a:r>
            <a:endParaRPr lang="en-US" sz="3400" dirty="0"/>
          </a:p>
        </p:txBody>
      </p:sp>
      <p:sp>
        <p:nvSpPr>
          <p:cNvPr id="4" name="tool-card-0"/>
          <p:cNvSpPr/>
          <p:nvPr/>
        </p:nvSpPr>
        <p:spPr>
          <a:xfrm>
            <a:off x="548640" y="1463040"/>
            <a:ext cx="2606040" cy="2286000"/>
          </a:xfrm>
          <a:prstGeom prst="roundRect">
            <a:avLst>
              <a:gd name="adj" fmla="val 4800"/>
            </a:avLst>
          </a:prstGeom>
          <a:solidFill>
            <a:schemeClr val="bg2"/>
          </a:solidFill>
          <a:ln/>
        </p:spPr>
      </p:sp>
      <p:sp>
        <p:nvSpPr>
          <p:cNvPr id="5" name="Shape 2"/>
          <p:cNvSpPr/>
          <p:nvPr/>
        </p:nvSpPr>
        <p:spPr>
          <a:xfrm>
            <a:off x="731520" y="1645920"/>
            <a:ext cx="502920" cy="502920"/>
          </a:xfrm>
          <a:prstGeom prst="ellipse">
            <a:avLst/>
          </a:prstGeom>
          <a:solidFill>
            <a:schemeClr val="accent1"/>
          </a:solidFill>
          <a:ln/>
        </p:spPr>
      </p:sp>
      <p:sp>
        <p:nvSpPr>
          <p:cNvPr id="6" name="Text 3"/>
          <p:cNvSpPr txBox="1"/>
          <p:nvPr/>
        </p:nvSpPr>
        <p:spPr>
          <a:xfrm>
            <a:off x="731520"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4"/>
          <p:cNvSpPr txBox="1"/>
          <p:nvPr/>
        </p:nvSpPr>
        <p:spPr>
          <a:xfrm>
            <a:off x="1371600" y="16459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Calculator</a:t>
            </a:r>
            <a:endParaRPr lang="en-US" sz="1600" dirty="0"/>
          </a:p>
        </p:txBody>
      </p:sp>
      <p:sp>
        <p:nvSpPr>
          <p:cNvPr id="8" name="Text 5"/>
          <p:cNvSpPr txBox="1"/>
          <p:nvPr/>
        </p:nvSpPr>
        <p:spPr>
          <a:xfrm>
            <a:off x="777240" y="2377440"/>
            <a:ext cx="2194560" cy="731520"/>
          </a:xfrm>
          <a:prstGeom prst="rect">
            <a:avLst/>
          </a:prstGeom>
          <a:noFill/>
          <a:ln/>
        </p:spPr>
        <p:txBody>
          <a:bodyPr wrap="square" lIns="0" tIns="0" rIns="0" bIns="0" rtlCol="0" anchor="t"/>
          <a:lstStyle/>
          <a:p>
            <a:pPr indent="0" marL="0">
              <a:buNone/>
            </a:pPr>
            <a:r>
              <a:rPr lang="en-US" sz="1400" dirty="0">
                <a:solidFill>
                  <a:schemeClr val="tx1"/>
                </a:solidFill>
              </a:rPr>
              <a:t>Evaluates mathematical expressions</a:t>
            </a:r>
            <a:endParaRPr lang="en-US" sz="1400" dirty="0"/>
          </a:p>
        </p:txBody>
      </p:sp>
      <p:sp>
        <p:nvSpPr>
          <p:cNvPr id="9" name="Text 6"/>
          <p:cNvSpPr txBox="1"/>
          <p:nvPr/>
        </p:nvSpPr>
        <p:spPr>
          <a:xfrm>
            <a:off x="777240" y="3246120"/>
            <a:ext cx="2194560" cy="365760"/>
          </a:xfrm>
          <a:prstGeom prst="rect">
            <a:avLst/>
          </a:prstGeom>
          <a:noFill/>
          <a:ln/>
        </p:spPr>
        <p:txBody>
          <a:bodyPr wrap="square" lIns="0" tIns="0" rIns="0" bIns="0" rtlCol="0" anchor="t"/>
          <a:lstStyle/>
          <a:p>
            <a:pPr indent="0" marL="0">
              <a:buNone/>
            </a:pPr>
            <a:r>
              <a:rPr lang="en-US" sz="1300" b="1" dirty="0">
                <a:solidFill>
                  <a:schemeClr val="accent3"/>
                </a:solidFill>
              </a:rPr>
              <a:t>Python</a:t>
            </a:r>
            <a:endParaRPr lang="en-US" sz="1300" dirty="0"/>
          </a:p>
        </p:txBody>
      </p:sp>
      <p:sp>
        <p:nvSpPr>
          <p:cNvPr id="10" name="tool-card-1"/>
          <p:cNvSpPr/>
          <p:nvPr/>
        </p:nvSpPr>
        <p:spPr>
          <a:xfrm>
            <a:off x="3364992" y="1463040"/>
            <a:ext cx="2606040" cy="2286000"/>
          </a:xfrm>
          <a:prstGeom prst="roundRect">
            <a:avLst>
              <a:gd name="adj" fmla="val 4800"/>
            </a:avLst>
          </a:prstGeom>
          <a:solidFill>
            <a:schemeClr val="bg2"/>
          </a:solidFill>
          <a:ln/>
        </p:spPr>
      </p:sp>
      <p:sp>
        <p:nvSpPr>
          <p:cNvPr id="11" name="Shape 8"/>
          <p:cNvSpPr/>
          <p:nvPr/>
        </p:nvSpPr>
        <p:spPr>
          <a:xfrm>
            <a:off x="3547872" y="1645920"/>
            <a:ext cx="502920" cy="502920"/>
          </a:xfrm>
          <a:prstGeom prst="ellipse">
            <a:avLst/>
          </a:prstGeom>
          <a:solidFill>
            <a:schemeClr val="accent2"/>
          </a:solidFill>
          <a:ln/>
        </p:spPr>
      </p:sp>
      <p:sp>
        <p:nvSpPr>
          <p:cNvPr id="12" name="Text 9"/>
          <p:cNvSpPr txBox="1"/>
          <p:nvPr/>
        </p:nvSpPr>
        <p:spPr>
          <a:xfrm>
            <a:off x="3547872"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4187952" y="16459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Wikipedia</a:t>
            </a:r>
            <a:endParaRPr lang="en-US" sz="1600" dirty="0"/>
          </a:p>
        </p:txBody>
      </p:sp>
      <p:sp>
        <p:nvSpPr>
          <p:cNvPr id="14" name="Text 11"/>
          <p:cNvSpPr txBox="1"/>
          <p:nvPr/>
        </p:nvSpPr>
        <p:spPr>
          <a:xfrm>
            <a:off x="3593592" y="2377440"/>
            <a:ext cx="2194560" cy="731520"/>
          </a:xfrm>
          <a:prstGeom prst="rect">
            <a:avLst/>
          </a:prstGeom>
          <a:noFill/>
          <a:ln/>
        </p:spPr>
        <p:txBody>
          <a:bodyPr wrap="square" lIns="0" tIns="0" rIns="0" bIns="0" rtlCol="0" anchor="t"/>
          <a:lstStyle/>
          <a:p>
            <a:pPr indent="0" marL="0">
              <a:buNone/>
            </a:pPr>
            <a:r>
              <a:rPr lang="en-US" sz="1400" dirty="0">
                <a:solidFill>
                  <a:schemeClr val="tx1"/>
                </a:solidFill>
              </a:rPr>
              <a:t>Fetches general reference information</a:t>
            </a:r>
            <a:endParaRPr lang="en-US" sz="1400" dirty="0"/>
          </a:p>
        </p:txBody>
      </p:sp>
      <p:sp>
        <p:nvSpPr>
          <p:cNvPr id="15" name="Text 12"/>
          <p:cNvSpPr txBox="1"/>
          <p:nvPr/>
        </p:nvSpPr>
        <p:spPr>
          <a:xfrm>
            <a:off x="3593592" y="3246120"/>
            <a:ext cx="2194560" cy="365760"/>
          </a:xfrm>
          <a:prstGeom prst="rect">
            <a:avLst/>
          </a:prstGeom>
          <a:noFill/>
          <a:ln/>
        </p:spPr>
        <p:txBody>
          <a:bodyPr wrap="square" lIns="0" tIns="0" rIns="0" bIns="0" rtlCol="0" anchor="t"/>
          <a:lstStyle/>
          <a:p>
            <a:pPr indent="0" marL="0">
              <a:buNone/>
            </a:pPr>
            <a:r>
              <a:rPr lang="en-US" sz="1300" b="1" dirty="0">
                <a:solidFill>
                  <a:schemeClr val="accent3"/>
                </a:solidFill>
              </a:rPr>
              <a:t>Wikipedia search</a:t>
            </a:r>
            <a:endParaRPr lang="en-US" sz="1300" dirty="0"/>
          </a:p>
        </p:txBody>
      </p:sp>
      <p:sp>
        <p:nvSpPr>
          <p:cNvPr id="16" name="tool-card-2"/>
          <p:cNvSpPr/>
          <p:nvPr/>
        </p:nvSpPr>
        <p:spPr>
          <a:xfrm>
            <a:off x="6181344" y="1463040"/>
            <a:ext cx="2606040" cy="2286000"/>
          </a:xfrm>
          <a:prstGeom prst="roundRect">
            <a:avLst>
              <a:gd name="adj" fmla="val 4800"/>
            </a:avLst>
          </a:prstGeom>
          <a:solidFill>
            <a:schemeClr val="bg2"/>
          </a:solidFill>
          <a:ln/>
        </p:spPr>
      </p:sp>
      <p:sp>
        <p:nvSpPr>
          <p:cNvPr id="17" name="Shape 14"/>
          <p:cNvSpPr/>
          <p:nvPr/>
        </p:nvSpPr>
        <p:spPr>
          <a:xfrm>
            <a:off x="6364224" y="1645920"/>
            <a:ext cx="502920" cy="502920"/>
          </a:xfrm>
          <a:prstGeom prst="ellipse">
            <a:avLst/>
          </a:prstGeom>
          <a:solidFill>
            <a:schemeClr val="accent1"/>
          </a:solidFill>
          <a:ln/>
        </p:spPr>
      </p:sp>
      <p:sp>
        <p:nvSpPr>
          <p:cNvPr id="18" name="Text 15"/>
          <p:cNvSpPr txBox="1"/>
          <p:nvPr/>
        </p:nvSpPr>
        <p:spPr>
          <a:xfrm>
            <a:off x="6364224"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6"/>
          <p:cNvSpPr txBox="1"/>
          <p:nvPr/>
        </p:nvSpPr>
        <p:spPr>
          <a:xfrm>
            <a:off x="7004304" y="16459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Web Search</a:t>
            </a:r>
            <a:endParaRPr lang="en-US" sz="1600" dirty="0"/>
          </a:p>
        </p:txBody>
      </p:sp>
      <p:sp>
        <p:nvSpPr>
          <p:cNvPr id="20" name="Text 17"/>
          <p:cNvSpPr txBox="1"/>
          <p:nvPr/>
        </p:nvSpPr>
        <p:spPr>
          <a:xfrm>
            <a:off x="6409944" y="2377440"/>
            <a:ext cx="2194560" cy="731520"/>
          </a:xfrm>
          <a:prstGeom prst="rect">
            <a:avLst/>
          </a:prstGeom>
          <a:noFill/>
          <a:ln/>
        </p:spPr>
        <p:txBody>
          <a:bodyPr wrap="square" lIns="0" tIns="0" rIns="0" bIns="0" rtlCol="0" anchor="t"/>
          <a:lstStyle/>
          <a:p>
            <a:pPr indent="0" marL="0">
              <a:buNone/>
            </a:pPr>
            <a:r>
              <a:rPr lang="en-US" sz="1400" dirty="0">
                <a:solidFill>
                  <a:schemeClr val="tx1"/>
                </a:solidFill>
              </a:rPr>
              <a:t>Finds current information online</a:t>
            </a:r>
            <a:endParaRPr lang="en-US" sz="1400" dirty="0"/>
          </a:p>
        </p:txBody>
      </p:sp>
      <p:sp>
        <p:nvSpPr>
          <p:cNvPr id="21" name="Text 18"/>
          <p:cNvSpPr txBox="1"/>
          <p:nvPr/>
        </p:nvSpPr>
        <p:spPr>
          <a:xfrm>
            <a:off x="6409944" y="3246120"/>
            <a:ext cx="2194560" cy="365760"/>
          </a:xfrm>
          <a:prstGeom prst="rect">
            <a:avLst/>
          </a:prstGeom>
          <a:noFill/>
          <a:ln/>
        </p:spPr>
        <p:txBody>
          <a:bodyPr wrap="square" lIns="0" tIns="0" rIns="0" bIns="0" rtlCol="0" anchor="t"/>
          <a:lstStyle/>
          <a:p>
            <a:pPr indent="0" marL="0">
              <a:buNone/>
            </a:pPr>
            <a:r>
              <a:rPr lang="en-US" sz="1300" b="1" dirty="0">
                <a:solidFill>
                  <a:schemeClr val="accent3"/>
                </a:solidFill>
              </a:rPr>
              <a:t>DuckDuckGo</a:t>
            </a:r>
            <a:endParaRPr lang="en-US" sz="1300" dirty="0"/>
          </a:p>
        </p:txBody>
      </p:sp>
      <p:sp>
        <p:nvSpPr>
          <p:cNvPr id="22" name="tool-card-3"/>
          <p:cNvSpPr/>
          <p:nvPr/>
        </p:nvSpPr>
        <p:spPr>
          <a:xfrm>
            <a:off x="8997696" y="1463040"/>
            <a:ext cx="2606040" cy="2286000"/>
          </a:xfrm>
          <a:prstGeom prst="roundRect">
            <a:avLst>
              <a:gd name="adj" fmla="val 4800"/>
            </a:avLst>
          </a:prstGeom>
          <a:solidFill>
            <a:schemeClr val="bg2"/>
          </a:solidFill>
          <a:ln/>
        </p:spPr>
      </p:sp>
      <p:sp>
        <p:nvSpPr>
          <p:cNvPr id="23" name="Shape 20"/>
          <p:cNvSpPr/>
          <p:nvPr/>
        </p:nvSpPr>
        <p:spPr>
          <a:xfrm>
            <a:off x="9180576" y="1645920"/>
            <a:ext cx="502920" cy="502920"/>
          </a:xfrm>
          <a:prstGeom prst="ellipse">
            <a:avLst/>
          </a:prstGeom>
          <a:solidFill>
            <a:schemeClr val="accent2"/>
          </a:solidFill>
          <a:ln/>
        </p:spPr>
      </p:sp>
      <p:sp>
        <p:nvSpPr>
          <p:cNvPr id="24" name="Text 21"/>
          <p:cNvSpPr txBox="1"/>
          <p:nvPr/>
        </p:nvSpPr>
        <p:spPr>
          <a:xfrm>
            <a:off x="9180576" y="1645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2"/>
          <p:cNvSpPr txBox="1"/>
          <p:nvPr/>
        </p:nvSpPr>
        <p:spPr>
          <a:xfrm>
            <a:off x="9820656" y="16459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Weather</a:t>
            </a:r>
            <a:endParaRPr lang="en-US" sz="1600" dirty="0"/>
          </a:p>
        </p:txBody>
      </p:sp>
      <p:sp>
        <p:nvSpPr>
          <p:cNvPr id="26" name="Text 23"/>
          <p:cNvSpPr txBox="1"/>
          <p:nvPr/>
        </p:nvSpPr>
        <p:spPr>
          <a:xfrm>
            <a:off x="9226296" y="2377440"/>
            <a:ext cx="2194560" cy="731520"/>
          </a:xfrm>
          <a:prstGeom prst="rect">
            <a:avLst/>
          </a:prstGeom>
          <a:noFill/>
          <a:ln/>
        </p:spPr>
        <p:txBody>
          <a:bodyPr wrap="square" lIns="0" tIns="0" rIns="0" bIns="0" rtlCol="0" anchor="t"/>
          <a:lstStyle/>
          <a:p>
            <a:pPr indent="0" marL="0">
              <a:buNone/>
            </a:pPr>
            <a:r>
              <a:rPr lang="en-US" sz="1400" dirty="0">
                <a:solidFill>
                  <a:schemeClr val="tx1"/>
                </a:solidFill>
              </a:rPr>
              <a:t>Gets weather for a location</a:t>
            </a:r>
            <a:endParaRPr lang="en-US" sz="1400" dirty="0"/>
          </a:p>
        </p:txBody>
      </p:sp>
      <p:sp>
        <p:nvSpPr>
          <p:cNvPr id="27" name="Text 24"/>
          <p:cNvSpPr txBox="1"/>
          <p:nvPr/>
        </p:nvSpPr>
        <p:spPr>
          <a:xfrm>
            <a:off x="9226296" y="3246120"/>
            <a:ext cx="2194560" cy="365760"/>
          </a:xfrm>
          <a:prstGeom prst="rect">
            <a:avLst/>
          </a:prstGeom>
          <a:noFill/>
          <a:ln/>
        </p:spPr>
        <p:txBody>
          <a:bodyPr wrap="square" lIns="0" tIns="0" rIns="0" bIns="0" rtlCol="0" anchor="t"/>
          <a:lstStyle/>
          <a:p>
            <a:pPr indent="0" marL="0">
              <a:buNone/>
            </a:pPr>
            <a:r>
              <a:rPr lang="en-US" sz="1300" b="1" dirty="0">
                <a:solidFill>
                  <a:schemeClr val="accent3"/>
                </a:solidFill>
              </a:rPr>
              <a:t>Open-Meteo / weather APIs</a:t>
            </a:r>
            <a:endParaRPr lang="en-US" sz="1300" dirty="0"/>
          </a:p>
        </p:txBody>
      </p:sp>
      <p:sp>
        <p:nvSpPr>
          <p:cNvPr id="28" name="tool-card-4"/>
          <p:cNvSpPr/>
          <p:nvPr/>
        </p:nvSpPr>
        <p:spPr>
          <a:xfrm>
            <a:off x="548640" y="3977640"/>
            <a:ext cx="2606040" cy="2286000"/>
          </a:xfrm>
          <a:prstGeom prst="roundRect">
            <a:avLst>
              <a:gd name="adj" fmla="val 4800"/>
            </a:avLst>
          </a:prstGeom>
          <a:solidFill>
            <a:schemeClr val="bg2"/>
          </a:solidFill>
          <a:ln/>
        </p:spPr>
      </p:sp>
      <p:sp>
        <p:nvSpPr>
          <p:cNvPr id="29" name="Shape 26"/>
          <p:cNvSpPr/>
          <p:nvPr/>
        </p:nvSpPr>
        <p:spPr>
          <a:xfrm>
            <a:off x="731520" y="4160520"/>
            <a:ext cx="502920" cy="502920"/>
          </a:xfrm>
          <a:prstGeom prst="ellipse">
            <a:avLst/>
          </a:prstGeom>
          <a:solidFill>
            <a:schemeClr val="accent1"/>
          </a:solidFill>
          <a:ln/>
        </p:spPr>
      </p:sp>
      <p:sp>
        <p:nvSpPr>
          <p:cNvPr id="30" name="Text 27"/>
          <p:cNvSpPr txBox="1"/>
          <p:nvPr/>
        </p:nvSpPr>
        <p:spPr>
          <a:xfrm>
            <a:off x="731520" y="4160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Text 28"/>
          <p:cNvSpPr txBox="1"/>
          <p:nvPr/>
        </p:nvSpPr>
        <p:spPr>
          <a:xfrm>
            <a:off x="1371600" y="41605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SQL Query</a:t>
            </a:r>
            <a:endParaRPr lang="en-US" sz="1600" dirty="0"/>
          </a:p>
        </p:txBody>
      </p:sp>
      <p:sp>
        <p:nvSpPr>
          <p:cNvPr id="32" name="Text 29"/>
          <p:cNvSpPr txBox="1"/>
          <p:nvPr/>
        </p:nvSpPr>
        <p:spPr>
          <a:xfrm>
            <a:off x="777240" y="4892040"/>
            <a:ext cx="2194560" cy="731520"/>
          </a:xfrm>
          <a:prstGeom prst="rect">
            <a:avLst/>
          </a:prstGeom>
          <a:noFill/>
          <a:ln/>
        </p:spPr>
        <p:txBody>
          <a:bodyPr wrap="square" lIns="0" tIns="0" rIns="0" bIns="0" rtlCol="0" anchor="t"/>
          <a:lstStyle/>
          <a:p>
            <a:pPr indent="0" marL="0">
              <a:buNone/>
            </a:pPr>
            <a:r>
              <a:rPr lang="en-US" sz="1400" dirty="0">
                <a:solidFill>
                  <a:schemeClr val="tx1"/>
                </a:solidFill>
              </a:rPr>
              <a:t>Runs SELECT queries on company data</a:t>
            </a:r>
            <a:endParaRPr lang="en-US" sz="1400" dirty="0"/>
          </a:p>
        </p:txBody>
      </p:sp>
      <p:sp>
        <p:nvSpPr>
          <p:cNvPr id="33" name="Text 30"/>
          <p:cNvSpPr txBox="1"/>
          <p:nvPr/>
        </p:nvSpPr>
        <p:spPr>
          <a:xfrm>
            <a:off x="777240" y="5760720"/>
            <a:ext cx="2194560" cy="365760"/>
          </a:xfrm>
          <a:prstGeom prst="rect">
            <a:avLst/>
          </a:prstGeom>
          <a:noFill/>
          <a:ln/>
        </p:spPr>
        <p:txBody>
          <a:bodyPr wrap="square" lIns="0" tIns="0" rIns="0" bIns="0" rtlCol="0" anchor="t"/>
          <a:lstStyle/>
          <a:p>
            <a:pPr indent="0" marL="0">
              <a:buNone/>
            </a:pPr>
            <a:r>
              <a:rPr lang="en-US" sz="1300" b="1" dirty="0">
                <a:solidFill>
                  <a:schemeClr val="accent3"/>
                </a:solidFill>
              </a:rPr>
              <a:t>SQLite</a:t>
            </a:r>
            <a:endParaRPr lang="en-US" sz="1300" dirty="0"/>
          </a:p>
        </p:txBody>
      </p:sp>
      <p:sp>
        <p:nvSpPr>
          <p:cNvPr id="34" name="tool-card-5"/>
          <p:cNvSpPr/>
          <p:nvPr/>
        </p:nvSpPr>
        <p:spPr>
          <a:xfrm>
            <a:off x="3364992" y="3977640"/>
            <a:ext cx="2606040" cy="2286000"/>
          </a:xfrm>
          <a:prstGeom prst="roundRect">
            <a:avLst>
              <a:gd name="adj" fmla="val 4800"/>
            </a:avLst>
          </a:prstGeom>
          <a:solidFill>
            <a:schemeClr val="bg2"/>
          </a:solidFill>
          <a:ln/>
        </p:spPr>
      </p:sp>
      <p:sp>
        <p:nvSpPr>
          <p:cNvPr id="35" name="Shape 32"/>
          <p:cNvSpPr/>
          <p:nvPr/>
        </p:nvSpPr>
        <p:spPr>
          <a:xfrm>
            <a:off x="3547872" y="4160520"/>
            <a:ext cx="502920" cy="502920"/>
          </a:xfrm>
          <a:prstGeom prst="ellipse">
            <a:avLst/>
          </a:prstGeom>
          <a:solidFill>
            <a:schemeClr val="accent2"/>
          </a:solidFill>
          <a:ln/>
        </p:spPr>
      </p:sp>
      <p:sp>
        <p:nvSpPr>
          <p:cNvPr id="36" name="Text 33"/>
          <p:cNvSpPr txBox="1"/>
          <p:nvPr/>
        </p:nvSpPr>
        <p:spPr>
          <a:xfrm>
            <a:off x="3547872" y="4160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7" name="Text 34"/>
          <p:cNvSpPr txBox="1"/>
          <p:nvPr/>
        </p:nvSpPr>
        <p:spPr>
          <a:xfrm>
            <a:off x="4187952" y="41605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YouTube Search</a:t>
            </a:r>
            <a:endParaRPr lang="en-US" sz="1600" dirty="0"/>
          </a:p>
        </p:txBody>
      </p:sp>
      <p:sp>
        <p:nvSpPr>
          <p:cNvPr id="38" name="Text 35"/>
          <p:cNvSpPr txBox="1"/>
          <p:nvPr/>
        </p:nvSpPr>
        <p:spPr>
          <a:xfrm>
            <a:off x="3593592" y="4892040"/>
            <a:ext cx="2194560" cy="731520"/>
          </a:xfrm>
          <a:prstGeom prst="rect">
            <a:avLst/>
          </a:prstGeom>
          <a:noFill/>
          <a:ln/>
        </p:spPr>
        <p:txBody>
          <a:bodyPr wrap="square" lIns="0" tIns="0" rIns="0" bIns="0" rtlCol="0" anchor="t"/>
          <a:lstStyle/>
          <a:p>
            <a:pPr indent="0" marL="0">
              <a:buNone/>
            </a:pPr>
            <a:r>
              <a:rPr lang="en-US" sz="1400" dirty="0">
                <a:solidFill>
                  <a:schemeClr val="tx1"/>
                </a:solidFill>
              </a:rPr>
              <a:t>Finds relevant videos</a:t>
            </a:r>
            <a:endParaRPr lang="en-US" sz="1400" dirty="0"/>
          </a:p>
        </p:txBody>
      </p:sp>
      <p:sp>
        <p:nvSpPr>
          <p:cNvPr id="39" name="Text 36"/>
          <p:cNvSpPr txBox="1"/>
          <p:nvPr/>
        </p:nvSpPr>
        <p:spPr>
          <a:xfrm>
            <a:off x="3593592" y="5760720"/>
            <a:ext cx="2194560" cy="365760"/>
          </a:xfrm>
          <a:prstGeom prst="rect">
            <a:avLst/>
          </a:prstGeom>
          <a:noFill/>
          <a:ln/>
        </p:spPr>
        <p:txBody>
          <a:bodyPr wrap="square" lIns="0" tIns="0" rIns="0" bIns="0" rtlCol="0" anchor="t"/>
          <a:lstStyle/>
          <a:p>
            <a:pPr indent="0" marL="0">
              <a:buNone/>
            </a:pPr>
            <a:r>
              <a:rPr lang="en-US" sz="1300" b="1" dirty="0">
                <a:solidFill>
                  <a:schemeClr val="accent3"/>
                </a:solidFill>
              </a:rPr>
              <a:t>YouTube Data API</a:t>
            </a:r>
            <a:endParaRPr lang="en-US" sz="1300" dirty="0"/>
          </a:p>
        </p:txBody>
      </p:sp>
      <p:sp>
        <p:nvSpPr>
          <p:cNvPr id="40" name="tool-card-6"/>
          <p:cNvSpPr/>
          <p:nvPr/>
        </p:nvSpPr>
        <p:spPr>
          <a:xfrm>
            <a:off x="6181344" y="3977640"/>
            <a:ext cx="2606040" cy="2286000"/>
          </a:xfrm>
          <a:prstGeom prst="roundRect">
            <a:avLst>
              <a:gd name="adj" fmla="val 4800"/>
            </a:avLst>
          </a:prstGeom>
          <a:solidFill>
            <a:schemeClr val="bg2"/>
          </a:solidFill>
          <a:ln/>
        </p:spPr>
      </p:sp>
      <p:sp>
        <p:nvSpPr>
          <p:cNvPr id="41" name="Shape 38"/>
          <p:cNvSpPr/>
          <p:nvPr/>
        </p:nvSpPr>
        <p:spPr>
          <a:xfrm>
            <a:off x="6364224" y="4160520"/>
            <a:ext cx="502920" cy="502920"/>
          </a:xfrm>
          <a:prstGeom prst="ellipse">
            <a:avLst/>
          </a:prstGeom>
          <a:solidFill>
            <a:schemeClr val="accent1"/>
          </a:solidFill>
          <a:ln/>
        </p:spPr>
      </p:sp>
      <p:sp>
        <p:nvSpPr>
          <p:cNvPr id="42" name="Text 39"/>
          <p:cNvSpPr txBox="1"/>
          <p:nvPr/>
        </p:nvSpPr>
        <p:spPr>
          <a:xfrm>
            <a:off x="6364224" y="4160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43" name="Text 40"/>
          <p:cNvSpPr txBox="1"/>
          <p:nvPr/>
        </p:nvSpPr>
        <p:spPr>
          <a:xfrm>
            <a:off x="7004304" y="4160520"/>
            <a:ext cx="1691640" cy="502920"/>
          </a:xfrm>
          <a:prstGeom prst="rect">
            <a:avLst/>
          </a:prstGeom>
          <a:noFill/>
          <a:ln/>
        </p:spPr>
        <p:txBody>
          <a:bodyPr wrap="square" lIns="0" tIns="0" rIns="0" bIns="0" rtlCol="0" anchor="ctr"/>
          <a:lstStyle/>
          <a:p>
            <a:pPr indent="0" marL="0">
              <a:buNone/>
            </a:pPr>
            <a:r>
              <a:rPr lang="en-US" sz="1600" b="1" dirty="0">
                <a:solidFill>
                  <a:schemeClr val="tx2"/>
                </a:solidFill>
              </a:rPr>
              <a:t>Gmail Search</a:t>
            </a:r>
            <a:endParaRPr lang="en-US" sz="1600" dirty="0"/>
          </a:p>
        </p:txBody>
      </p:sp>
      <p:sp>
        <p:nvSpPr>
          <p:cNvPr id="44" name="Text 41"/>
          <p:cNvSpPr txBox="1"/>
          <p:nvPr/>
        </p:nvSpPr>
        <p:spPr>
          <a:xfrm>
            <a:off x="6409944" y="4892040"/>
            <a:ext cx="2194560" cy="731520"/>
          </a:xfrm>
          <a:prstGeom prst="rect">
            <a:avLst/>
          </a:prstGeom>
          <a:noFill/>
          <a:ln/>
        </p:spPr>
        <p:txBody>
          <a:bodyPr wrap="square" lIns="0" tIns="0" rIns="0" bIns="0" rtlCol="0" anchor="t"/>
          <a:lstStyle/>
          <a:p>
            <a:pPr indent="0" marL="0">
              <a:buNone/>
            </a:pPr>
            <a:r>
              <a:rPr lang="en-US" sz="1400" dirty="0">
                <a:solidFill>
                  <a:schemeClr val="tx1"/>
                </a:solidFill>
              </a:rPr>
              <a:t>Searches emails, read-only access</a:t>
            </a:r>
            <a:endParaRPr lang="en-US" sz="1400" dirty="0"/>
          </a:p>
        </p:txBody>
      </p:sp>
      <p:sp>
        <p:nvSpPr>
          <p:cNvPr id="45" name="Text 42"/>
          <p:cNvSpPr txBox="1"/>
          <p:nvPr/>
        </p:nvSpPr>
        <p:spPr>
          <a:xfrm>
            <a:off x="6409944" y="5760720"/>
            <a:ext cx="2194560" cy="365760"/>
          </a:xfrm>
          <a:prstGeom prst="rect">
            <a:avLst/>
          </a:prstGeom>
          <a:noFill/>
          <a:ln/>
        </p:spPr>
        <p:txBody>
          <a:bodyPr wrap="square" lIns="0" tIns="0" rIns="0" bIns="0" rtlCol="0" anchor="t"/>
          <a:lstStyle/>
          <a:p>
            <a:pPr indent="0" marL="0">
              <a:buNone/>
            </a:pPr>
            <a:r>
              <a:rPr lang="en-US" sz="1300" b="1" dirty="0">
                <a:solidFill>
                  <a:schemeClr val="accent3"/>
                </a:solidFill>
              </a:rPr>
              <a:t>Gmail API + OAuth</a:t>
            </a:r>
            <a:endParaRPr lang="en-US" sz="1300" dirty="0"/>
          </a:p>
        </p:txBody>
      </p:sp>
      <p:sp>
        <p:nvSpPr>
          <p:cNvPr id="46" name="tool-summary"/>
          <p:cNvSpPr/>
          <p:nvPr/>
        </p:nvSpPr>
        <p:spPr>
          <a:xfrm>
            <a:off x="8924544" y="3977640"/>
            <a:ext cx="2688336" cy="2286000"/>
          </a:xfrm>
          <a:prstGeom prst="roundRect">
            <a:avLst>
              <a:gd name="adj" fmla="val 4800"/>
            </a:avLst>
          </a:prstGeom>
          <a:solidFill>
            <a:schemeClr val="tx2"/>
          </a:solidFill>
          <a:ln/>
        </p:spPr>
      </p:sp>
      <p:sp>
        <p:nvSpPr>
          <p:cNvPr id="47" name="Text 44"/>
          <p:cNvSpPr txBox="1"/>
          <p:nvPr/>
        </p:nvSpPr>
        <p:spPr>
          <a:xfrm>
            <a:off x="9144000" y="4206240"/>
            <a:ext cx="2286000" cy="1828800"/>
          </a:xfrm>
          <a:prstGeom prst="rect">
            <a:avLst/>
          </a:prstGeom>
          <a:noFill/>
          <a:ln/>
        </p:spPr>
        <p:txBody>
          <a:bodyPr wrap="square" lIns="0" tIns="0" rIns="0" bIns="0" rtlCol="0" anchor="ctr"/>
          <a:lstStyle/>
          <a:p>
            <a:pPr indent="0" marL="0">
              <a:buNone/>
            </a:pPr>
            <a:r>
              <a:rPr lang="en-US" sz="1800" b="1" dirty="0">
                <a:solidFill>
                  <a:schemeClr val="accent4"/>
                </a:solidFill>
              </a:rPr>
              <a:t>The agent picks a tool from its description</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Application Workflow</a:t>
            </a:r>
            <a:endParaRPr lang="en-US" sz="3400" dirty="0"/>
          </a:p>
        </p:txBody>
      </p:sp>
      <p:sp>
        <p:nvSpPr>
          <p:cNvPr id="4" name="wf-row-0"/>
          <p:cNvSpPr/>
          <p:nvPr/>
        </p:nvSpPr>
        <p:spPr>
          <a:xfrm>
            <a:off x="548640" y="1417320"/>
            <a:ext cx="11064240" cy="777240"/>
          </a:xfrm>
          <a:prstGeom prst="roundRect">
            <a:avLst>
              <a:gd name="adj" fmla="val 14118"/>
            </a:avLst>
          </a:prstGeom>
          <a:solidFill>
            <a:schemeClr val="bg2"/>
          </a:solidFill>
          <a:ln/>
        </p:spPr>
      </p:sp>
      <p:sp>
        <p:nvSpPr>
          <p:cNvPr id="5" name="wf-file-0"/>
          <p:cNvSpPr/>
          <p:nvPr/>
        </p:nvSpPr>
        <p:spPr>
          <a:xfrm>
            <a:off x="685800" y="1527048"/>
            <a:ext cx="3383280" cy="557784"/>
          </a:xfrm>
          <a:prstGeom prst="roundRect">
            <a:avLst>
              <a:gd name="adj" fmla="val 19672"/>
            </a:avLst>
          </a:prstGeom>
          <a:solidFill>
            <a:schemeClr val="accent1"/>
          </a:solidFill>
          <a:ln/>
        </p:spPr>
      </p:sp>
      <p:sp>
        <p:nvSpPr>
          <p:cNvPr id="6" name="Text 3"/>
          <p:cNvSpPr txBox="1"/>
          <p:nvPr/>
        </p:nvSpPr>
        <p:spPr>
          <a:xfrm>
            <a:off x="685800" y="1527048"/>
            <a:ext cx="3383280" cy="55778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templates/index.html</a:t>
            </a:r>
            <a:endParaRPr lang="en-US" sz="1500" dirty="0"/>
          </a:p>
        </p:txBody>
      </p:sp>
      <p:sp>
        <p:nvSpPr>
          <p:cNvPr id="7" name="Text 4"/>
          <p:cNvSpPr txBox="1"/>
          <p:nvPr/>
        </p:nvSpPr>
        <p:spPr>
          <a:xfrm>
            <a:off x="4343400" y="1417320"/>
            <a:ext cx="7040880" cy="777240"/>
          </a:xfrm>
          <a:prstGeom prst="rect">
            <a:avLst/>
          </a:prstGeom>
          <a:noFill/>
          <a:ln/>
        </p:spPr>
        <p:txBody>
          <a:bodyPr wrap="square" lIns="0" tIns="0" rIns="0" bIns="0" rtlCol="0" anchor="ctr"/>
          <a:lstStyle/>
          <a:p>
            <a:pPr indent="0" marL="0">
              <a:buNone/>
            </a:pPr>
            <a:r>
              <a:rPr lang="en-US" sz="1700" dirty="0">
                <a:solidFill>
                  <a:schemeClr val="tx1"/>
                </a:solidFill>
              </a:rPr>
              <a:t>Displays the chat interface and sends the user's request</a:t>
            </a:r>
            <a:endParaRPr lang="en-US" sz="1700" dirty="0"/>
          </a:p>
        </p:txBody>
      </p:sp>
      <p:sp>
        <p:nvSpPr>
          <p:cNvPr id="8" name="wf-row-1"/>
          <p:cNvSpPr/>
          <p:nvPr/>
        </p:nvSpPr>
        <p:spPr>
          <a:xfrm>
            <a:off x="548640" y="2350008"/>
            <a:ext cx="11064240" cy="777240"/>
          </a:xfrm>
          <a:prstGeom prst="roundRect">
            <a:avLst>
              <a:gd name="adj" fmla="val 14118"/>
            </a:avLst>
          </a:prstGeom>
          <a:solidFill>
            <a:schemeClr val="bg2"/>
          </a:solidFill>
          <a:ln/>
        </p:spPr>
      </p:sp>
      <p:sp>
        <p:nvSpPr>
          <p:cNvPr id="9" name="wf-file-1"/>
          <p:cNvSpPr/>
          <p:nvPr/>
        </p:nvSpPr>
        <p:spPr>
          <a:xfrm>
            <a:off x="685800" y="2459736"/>
            <a:ext cx="3383280" cy="557784"/>
          </a:xfrm>
          <a:prstGeom prst="roundRect">
            <a:avLst>
              <a:gd name="adj" fmla="val 19672"/>
            </a:avLst>
          </a:prstGeom>
          <a:solidFill>
            <a:schemeClr val="accent1"/>
          </a:solidFill>
          <a:ln/>
        </p:spPr>
      </p:sp>
      <p:sp>
        <p:nvSpPr>
          <p:cNvPr id="10" name="Text 7"/>
          <p:cNvSpPr txBox="1"/>
          <p:nvPr/>
        </p:nvSpPr>
        <p:spPr>
          <a:xfrm>
            <a:off x="685800" y="2459736"/>
            <a:ext cx="3383280" cy="55778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app.py</a:t>
            </a:r>
            <a:endParaRPr lang="en-US" sz="1500" dirty="0"/>
          </a:p>
        </p:txBody>
      </p:sp>
      <p:sp>
        <p:nvSpPr>
          <p:cNvPr id="11" name="Text 8"/>
          <p:cNvSpPr txBox="1"/>
          <p:nvPr/>
        </p:nvSpPr>
        <p:spPr>
          <a:xfrm>
            <a:off x="4343400" y="2350008"/>
            <a:ext cx="7040880" cy="777240"/>
          </a:xfrm>
          <a:prstGeom prst="rect">
            <a:avLst/>
          </a:prstGeom>
          <a:noFill/>
          <a:ln/>
        </p:spPr>
        <p:txBody>
          <a:bodyPr wrap="square" lIns="0" tIns="0" rIns="0" bIns="0" rtlCol="0" anchor="ctr"/>
          <a:lstStyle/>
          <a:p>
            <a:pPr indent="0" marL="0">
              <a:buNone/>
            </a:pPr>
            <a:r>
              <a:rPr lang="en-US" sz="1700" dirty="0">
                <a:solidFill>
                  <a:schemeClr val="tx1"/>
                </a:solidFill>
              </a:rPr>
              <a:t>Receives the request and invokes the agent</a:t>
            </a:r>
            <a:endParaRPr lang="en-US" sz="1700" dirty="0"/>
          </a:p>
        </p:txBody>
      </p:sp>
      <p:sp>
        <p:nvSpPr>
          <p:cNvPr id="12" name="wf-row-2"/>
          <p:cNvSpPr/>
          <p:nvPr/>
        </p:nvSpPr>
        <p:spPr>
          <a:xfrm>
            <a:off x="548640" y="3282696"/>
            <a:ext cx="11064240" cy="777240"/>
          </a:xfrm>
          <a:prstGeom prst="roundRect">
            <a:avLst>
              <a:gd name="adj" fmla="val 14118"/>
            </a:avLst>
          </a:prstGeom>
          <a:solidFill>
            <a:schemeClr val="bg2"/>
          </a:solidFill>
          <a:ln/>
        </p:spPr>
      </p:sp>
      <p:sp>
        <p:nvSpPr>
          <p:cNvPr id="13" name="wf-file-2"/>
          <p:cNvSpPr/>
          <p:nvPr/>
        </p:nvSpPr>
        <p:spPr>
          <a:xfrm>
            <a:off x="685800" y="3392424"/>
            <a:ext cx="3383280" cy="557784"/>
          </a:xfrm>
          <a:prstGeom prst="roundRect">
            <a:avLst>
              <a:gd name="adj" fmla="val 19672"/>
            </a:avLst>
          </a:prstGeom>
          <a:solidFill>
            <a:schemeClr val="accent2"/>
          </a:solidFill>
          <a:ln/>
        </p:spPr>
      </p:sp>
      <p:sp>
        <p:nvSpPr>
          <p:cNvPr id="14" name="Text 11"/>
          <p:cNvSpPr txBox="1"/>
          <p:nvPr/>
        </p:nvSpPr>
        <p:spPr>
          <a:xfrm>
            <a:off x="685800" y="3392424"/>
            <a:ext cx="3383280" cy="55778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agent/graph.py</a:t>
            </a:r>
            <a:endParaRPr lang="en-US" sz="1500" dirty="0"/>
          </a:p>
        </p:txBody>
      </p:sp>
      <p:sp>
        <p:nvSpPr>
          <p:cNvPr id="15" name="Text 12"/>
          <p:cNvSpPr txBox="1"/>
          <p:nvPr/>
        </p:nvSpPr>
        <p:spPr>
          <a:xfrm>
            <a:off x="4343400" y="3282696"/>
            <a:ext cx="7040880" cy="777240"/>
          </a:xfrm>
          <a:prstGeom prst="rect">
            <a:avLst/>
          </a:prstGeom>
          <a:noFill/>
          <a:ln/>
        </p:spPr>
        <p:txBody>
          <a:bodyPr wrap="square" lIns="0" tIns="0" rIns="0" bIns="0" rtlCol="0" anchor="ctr"/>
          <a:lstStyle/>
          <a:p>
            <a:pPr indent="0" marL="0">
              <a:buNone/>
            </a:pPr>
            <a:r>
              <a:rPr lang="en-US" sz="1700" dirty="0">
                <a:solidFill>
                  <a:schemeClr val="tx1"/>
                </a:solidFill>
              </a:rPr>
              <a:t>Configures Gemini, the tools, and the LangGraph ReAct agent</a:t>
            </a:r>
            <a:endParaRPr lang="en-US" sz="1700" dirty="0"/>
          </a:p>
        </p:txBody>
      </p:sp>
      <p:sp>
        <p:nvSpPr>
          <p:cNvPr id="16" name="wf-row-3"/>
          <p:cNvSpPr/>
          <p:nvPr/>
        </p:nvSpPr>
        <p:spPr>
          <a:xfrm>
            <a:off x="548640" y="4215384"/>
            <a:ext cx="11064240" cy="777240"/>
          </a:xfrm>
          <a:prstGeom prst="roundRect">
            <a:avLst>
              <a:gd name="adj" fmla="val 14118"/>
            </a:avLst>
          </a:prstGeom>
          <a:solidFill>
            <a:schemeClr val="bg2"/>
          </a:solidFill>
          <a:ln/>
        </p:spPr>
      </p:sp>
      <p:sp>
        <p:nvSpPr>
          <p:cNvPr id="17" name="wf-file-3"/>
          <p:cNvSpPr/>
          <p:nvPr/>
        </p:nvSpPr>
        <p:spPr>
          <a:xfrm>
            <a:off x="685800" y="4325112"/>
            <a:ext cx="3383280" cy="557784"/>
          </a:xfrm>
          <a:prstGeom prst="roundRect">
            <a:avLst>
              <a:gd name="adj" fmla="val 19672"/>
            </a:avLst>
          </a:prstGeom>
          <a:solidFill>
            <a:schemeClr val="accent1"/>
          </a:solidFill>
          <a:ln/>
        </p:spPr>
      </p:sp>
      <p:sp>
        <p:nvSpPr>
          <p:cNvPr id="18" name="Text 15"/>
          <p:cNvSpPr txBox="1"/>
          <p:nvPr/>
        </p:nvSpPr>
        <p:spPr>
          <a:xfrm>
            <a:off x="685800" y="4325112"/>
            <a:ext cx="3383280" cy="55778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tools/</a:t>
            </a:r>
            <a:endParaRPr lang="en-US" sz="1500" dirty="0"/>
          </a:p>
        </p:txBody>
      </p:sp>
      <p:sp>
        <p:nvSpPr>
          <p:cNvPr id="19" name="Text 16"/>
          <p:cNvSpPr txBox="1"/>
          <p:nvPr/>
        </p:nvSpPr>
        <p:spPr>
          <a:xfrm>
            <a:off x="4343400" y="4215384"/>
            <a:ext cx="7040880" cy="777240"/>
          </a:xfrm>
          <a:prstGeom prst="rect">
            <a:avLst/>
          </a:prstGeom>
          <a:noFill/>
          <a:ln/>
        </p:spPr>
        <p:txBody>
          <a:bodyPr wrap="square" lIns="0" tIns="0" rIns="0" bIns="0" rtlCol="0" anchor="ctr"/>
          <a:lstStyle/>
          <a:p>
            <a:pPr indent="0" marL="0">
              <a:buNone/>
            </a:pPr>
            <a:r>
              <a:rPr lang="en-US" sz="1700" dirty="0">
                <a:solidFill>
                  <a:schemeClr val="tx1"/>
                </a:solidFill>
              </a:rPr>
              <a:t>Contains the individual tool implementations</a:t>
            </a:r>
            <a:endParaRPr lang="en-US" sz="1700" dirty="0"/>
          </a:p>
        </p:txBody>
      </p:sp>
      <p:sp>
        <p:nvSpPr>
          <p:cNvPr id="20" name="wf-row-4"/>
          <p:cNvSpPr/>
          <p:nvPr/>
        </p:nvSpPr>
        <p:spPr>
          <a:xfrm>
            <a:off x="548640" y="5148072"/>
            <a:ext cx="11064240" cy="777240"/>
          </a:xfrm>
          <a:prstGeom prst="roundRect">
            <a:avLst>
              <a:gd name="adj" fmla="val 14118"/>
            </a:avLst>
          </a:prstGeom>
          <a:solidFill>
            <a:schemeClr val="bg2"/>
          </a:solidFill>
          <a:ln/>
        </p:spPr>
      </p:sp>
      <p:sp>
        <p:nvSpPr>
          <p:cNvPr id="21" name="wf-file-4"/>
          <p:cNvSpPr/>
          <p:nvPr/>
        </p:nvSpPr>
        <p:spPr>
          <a:xfrm>
            <a:off x="685800" y="5257800"/>
            <a:ext cx="3383280" cy="557784"/>
          </a:xfrm>
          <a:prstGeom prst="roundRect">
            <a:avLst>
              <a:gd name="adj" fmla="val 19672"/>
            </a:avLst>
          </a:prstGeom>
          <a:solidFill>
            <a:schemeClr val="accent1"/>
          </a:solidFill>
          <a:ln/>
        </p:spPr>
      </p:sp>
      <p:sp>
        <p:nvSpPr>
          <p:cNvPr id="22" name="Text 19"/>
          <p:cNvSpPr txBox="1"/>
          <p:nvPr/>
        </p:nvSpPr>
        <p:spPr>
          <a:xfrm>
            <a:off x="685800" y="5257800"/>
            <a:ext cx="3383280" cy="557784"/>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database/</a:t>
            </a:r>
            <a:endParaRPr lang="en-US" sz="1500" dirty="0"/>
          </a:p>
        </p:txBody>
      </p:sp>
      <p:sp>
        <p:nvSpPr>
          <p:cNvPr id="23" name="Text 20"/>
          <p:cNvSpPr txBox="1"/>
          <p:nvPr/>
        </p:nvSpPr>
        <p:spPr>
          <a:xfrm>
            <a:off x="4343400" y="5148072"/>
            <a:ext cx="7040880" cy="777240"/>
          </a:xfrm>
          <a:prstGeom prst="rect">
            <a:avLst/>
          </a:prstGeom>
          <a:noFill/>
          <a:ln/>
        </p:spPr>
        <p:txBody>
          <a:bodyPr wrap="square" lIns="0" tIns="0" rIns="0" bIns="0" rtlCol="0" anchor="ctr"/>
          <a:lstStyle/>
          <a:p>
            <a:pPr indent="0" marL="0">
              <a:buNone/>
            </a:pPr>
            <a:r>
              <a:rPr lang="en-US" sz="1700" dirty="0">
                <a:solidFill>
                  <a:schemeClr val="tx1"/>
                </a:solidFill>
              </a:rPr>
              <a:t>Contains the SQLite database setup code</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Example User Interaction</a:t>
            </a:r>
            <a:endParaRPr lang="en-US" sz="3400" dirty="0"/>
          </a:p>
        </p:txBody>
      </p:sp>
      <p:sp>
        <p:nvSpPr>
          <p:cNvPr id="4" name="ex-question"/>
          <p:cNvSpPr/>
          <p:nvPr/>
        </p:nvSpPr>
        <p:spPr>
          <a:xfrm>
            <a:off x="548640" y="1371600"/>
            <a:ext cx="11064240" cy="777240"/>
          </a:xfrm>
          <a:prstGeom prst="roundRect">
            <a:avLst>
              <a:gd name="adj" fmla="val 14118"/>
            </a:avLst>
          </a:prstGeom>
          <a:solidFill>
            <a:schemeClr val="accent1"/>
          </a:solidFill>
          <a:ln/>
        </p:spPr>
      </p:sp>
      <p:sp>
        <p:nvSpPr>
          <p:cNvPr id="5" name="Text 2"/>
          <p:cNvSpPr txBox="1"/>
          <p:nvPr/>
        </p:nvSpPr>
        <p:spPr>
          <a:xfrm>
            <a:off x="822960" y="1371600"/>
            <a:ext cx="10515600" cy="777240"/>
          </a:xfrm>
          <a:prstGeom prst="rect">
            <a:avLst/>
          </a:prstGeom>
          <a:noFill/>
          <a:ln/>
        </p:spPr>
        <p:txBody>
          <a:bodyPr wrap="square" lIns="0" tIns="0" rIns="0" bIns="0" rtlCol="0" anchor="ctr"/>
          <a:lstStyle/>
          <a:p>
            <a:pPr indent="0" marL="0">
              <a:buNone/>
            </a:pPr>
            <a:r>
              <a:rPr lang="en-US" sz="2200" i="1" dirty="0">
                <a:solidFill>
                  <a:schemeClr val="bg1"/>
                </a:solidFill>
              </a:rPr>
              <a:t>“What is 40 + 20, and what is the weather in Chennai?”</a:t>
            </a:r>
            <a:endParaRPr lang="en-US" sz="2200" dirty="0"/>
          </a:p>
        </p:txBody>
      </p:sp>
      <p:sp>
        <p:nvSpPr>
          <p:cNvPr id="6" name="ex-agent"/>
          <p:cNvSpPr/>
          <p:nvPr/>
        </p:nvSpPr>
        <p:spPr>
          <a:xfrm>
            <a:off x="548640" y="3108960"/>
            <a:ext cx="2194560" cy="1097280"/>
          </a:xfrm>
          <a:prstGeom prst="roundRect">
            <a:avLst>
              <a:gd name="adj" fmla="val 10000"/>
            </a:avLst>
          </a:prstGeom>
          <a:solidFill>
            <a:schemeClr val="tx2"/>
          </a:solidFill>
          <a:ln/>
        </p:spPr>
      </p:sp>
      <p:sp>
        <p:nvSpPr>
          <p:cNvPr id="7" name="Text 4"/>
          <p:cNvSpPr txBox="1"/>
          <p:nvPr/>
        </p:nvSpPr>
        <p:spPr>
          <a:xfrm>
            <a:off x="640080" y="3108960"/>
            <a:ext cx="2011680" cy="1097280"/>
          </a:xfrm>
          <a:prstGeom prst="rect">
            <a:avLst/>
          </a:prstGeom>
          <a:noFill/>
          <a:ln/>
        </p:spPr>
        <p:txBody>
          <a:bodyPr wrap="square" lIns="0" tIns="0" rIns="0" bIns="0" rtlCol="0" anchor="ctr"/>
          <a:lstStyle/>
          <a:p>
            <a:pPr algn="ctr" indent="0" marL="0">
              <a:buNone/>
            </a:pPr>
            <a:r>
              <a:rPr lang="en-US" sz="1600" b="1" dirty="0">
                <a:solidFill>
                  <a:schemeClr val="bg1"/>
                </a:solidFill>
              </a:rPr>
              <a:t>Agent splits the question</a:t>
            </a:r>
            <a:endParaRPr lang="en-US" sz="1600" dirty="0"/>
          </a:p>
        </p:txBody>
      </p:sp>
      <p:sp>
        <p:nvSpPr>
          <p:cNvPr id="8" name="ex-tool-0"/>
          <p:cNvSpPr/>
          <p:nvPr/>
        </p:nvSpPr>
        <p:spPr>
          <a:xfrm>
            <a:off x="3657600" y="2377440"/>
            <a:ext cx="3291840" cy="1097280"/>
          </a:xfrm>
          <a:prstGeom prst="roundRect">
            <a:avLst>
              <a:gd name="adj" fmla="val 10000"/>
            </a:avLst>
          </a:prstGeom>
          <a:solidFill>
            <a:schemeClr val="bg2"/>
          </a:solidFill>
          <a:ln/>
        </p:spPr>
      </p:sp>
      <p:sp>
        <p:nvSpPr>
          <p:cNvPr id="9" name="Text 6"/>
          <p:cNvSpPr txBox="1"/>
          <p:nvPr/>
        </p:nvSpPr>
        <p:spPr>
          <a:xfrm>
            <a:off x="3657600" y="2377440"/>
            <a:ext cx="3291840" cy="1097280"/>
          </a:xfrm>
          <a:prstGeom prst="rect">
            <a:avLst/>
          </a:prstGeom>
          <a:noFill/>
          <a:ln/>
        </p:spPr>
        <p:txBody>
          <a:bodyPr wrap="square" lIns="0" tIns="0" rIns="0" bIns="0" rtlCol="0" anchor="ctr"/>
          <a:lstStyle/>
          <a:p>
            <a:pPr algn="ctr" indent="0" marL="0">
              <a:buNone/>
            </a:pPr>
            <a:r>
              <a:rPr lang="en-US" sz="1700" b="1" dirty="0">
                <a:solidFill>
                  <a:schemeClr val="accent3"/>
                </a:solidFill>
              </a:rPr>
              <a:t>Calculator tool</a:t>
            </a:r>
            <a:endParaRPr lang="en-US" sz="1400" dirty="0"/>
          </a:p>
          <a:p>
            <a:pPr algn="ctr" indent="0" marL="0">
              <a:buNone/>
            </a:pPr>
            <a:r>
              <a:rPr lang="en-US" sz="1500" dirty="0">
                <a:solidFill>
                  <a:schemeClr val="tx1"/>
                </a:solidFill>
              </a:rPr>
              <a:t>40 + 20  →  60</a:t>
            </a:r>
            <a:endParaRPr lang="en-US" sz="1400" dirty="0"/>
          </a:p>
        </p:txBody>
      </p:sp>
      <p:sp>
        <p:nvSpPr>
          <p:cNvPr id="10" name="ex-tool-1"/>
          <p:cNvSpPr/>
          <p:nvPr/>
        </p:nvSpPr>
        <p:spPr>
          <a:xfrm>
            <a:off x="3657600" y="3749040"/>
            <a:ext cx="3291840" cy="1097280"/>
          </a:xfrm>
          <a:prstGeom prst="roundRect">
            <a:avLst>
              <a:gd name="adj" fmla="val 10000"/>
            </a:avLst>
          </a:prstGeom>
          <a:solidFill>
            <a:schemeClr val="bg2"/>
          </a:solidFill>
          <a:ln/>
        </p:spPr>
      </p:sp>
      <p:sp>
        <p:nvSpPr>
          <p:cNvPr id="11" name="Text 8"/>
          <p:cNvSpPr txBox="1"/>
          <p:nvPr/>
        </p:nvSpPr>
        <p:spPr>
          <a:xfrm>
            <a:off x="3657600" y="3749040"/>
            <a:ext cx="3291840" cy="1097280"/>
          </a:xfrm>
          <a:prstGeom prst="rect">
            <a:avLst/>
          </a:prstGeom>
          <a:noFill/>
          <a:ln/>
        </p:spPr>
        <p:txBody>
          <a:bodyPr wrap="square" lIns="0" tIns="0" rIns="0" bIns="0" rtlCol="0" anchor="ctr"/>
          <a:lstStyle/>
          <a:p>
            <a:pPr algn="ctr" indent="0" marL="0">
              <a:buNone/>
            </a:pPr>
            <a:r>
              <a:rPr lang="en-US" sz="1700" b="1" dirty="0">
                <a:solidFill>
                  <a:schemeClr val="accent3"/>
                </a:solidFill>
              </a:rPr>
              <a:t>Weather tool</a:t>
            </a:r>
            <a:endParaRPr lang="en-US" sz="1400" dirty="0"/>
          </a:p>
          <a:p>
            <a:pPr algn="ctr" indent="0" marL="0">
              <a:buNone/>
            </a:pPr>
            <a:r>
              <a:rPr lang="en-US" sz="1500" dirty="0">
                <a:solidFill>
                  <a:schemeClr val="tx1"/>
                </a:solidFill>
              </a:rPr>
              <a:t>Chennai  →  [live data]</a:t>
            </a:r>
            <a:endParaRPr lang="en-US" sz="1400" dirty="0"/>
          </a:p>
        </p:txBody>
      </p:sp>
      <p:sp>
        <p:nvSpPr>
          <p:cNvPr id="12" name="Shape 9"/>
          <p:cNvSpPr/>
          <p:nvPr/>
        </p:nvSpPr>
        <p:spPr>
          <a:xfrm flipV="1">
            <a:off x="2761488" y="2926080"/>
            <a:ext cx="877824" cy="731520"/>
          </a:xfrm>
          <a:prstGeom prst="line">
            <a:avLst/>
          </a:prstGeom>
          <a:noFill/>
          <a:ln w="25400">
            <a:solidFill>
              <a:schemeClr val="accent1"/>
            </a:solidFill>
            <a:prstDash val="solid"/>
            <a:tailEnd type="triangle"/>
          </a:ln>
        </p:spPr>
      </p:sp>
      <p:sp>
        <p:nvSpPr>
          <p:cNvPr id="13" name="Shape 10"/>
          <p:cNvSpPr/>
          <p:nvPr/>
        </p:nvSpPr>
        <p:spPr>
          <a:xfrm>
            <a:off x="2761488" y="3657600"/>
            <a:ext cx="877824" cy="640080"/>
          </a:xfrm>
          <a:prstGeom prst="line">
            <a:avLst/>
          </a:prstGeom>
          <a:noFill/>
          <a:ln w="25400">
            <a:solidFill>
              <a:schemeClr val="accent1"/>
            </a:solidFill>
            <a:prstDash val="solid"/>
            <a:tailEnd type="triangle"/>
          </a:ln>
        </p:spPr>
      </p:sp>
      <p:sp>
        <p:nvSpPr>
          <p:cNvPr id="14" name="Shape 11"/>
          <p:cNvSpPr/>
          <p:nvPr/>
        </p:nvSpPr>
        <p:spPr>
          <a:xfrm>
            <a:off x="6967728" y="2926080"/>
            <a:ext cx="1060704" cy="365760"/>
          </a:xfrm>
          <a:prstGeom prst="line">
            <a:avLst/>
          </a:prstGeom>
          <a:noFill/>
          <a:ln w="25400">
            <a:solidFill>
              <a:schemeClr val="accent1"/>
            </a:solidFill>
            <a:prstDash val="solid"/>
            <a:tailEnd type="triangle"/>
          </a:ln>
        </p:spPr>
      </p:sp>
      <p:sp>
        <p:nvSpPr>
          <p:cNvPr id="15" name="Shape 12"/>
          <p:cNvSpPr/>
          <p:nvPr/>
        </p:nvSpPr>
        <p:spPr>
          <a:xfrm flipV="1">
            <a:off x="6967728" y="3931920"/>
            <a:ext cx="1060704" cy="365760"/>
          </a:xfrm>
          <a:prstGeom prst="line">
            <a:avLst/>
          </a:prstGeom>
          <a:noFill/>
          <a:ln w="25400">
            <a:solidFill>
              <a:schemeClr val="accent1"/>
            </a:solidFill>
            <a:prstDash val="solid"/>
            <a:tailEnd type="triangle"/>
          </a:ln>
        </p:spPr>
      </p:sp>
      <p:sp>
        <p:nvSpPr>
          <p:cNvPr id="16" name="ex-answer"/>
          <p:cNvSpPr/>
          <p:nvPr/>
        </p:nvSpPr>
        <p:spPr>
          <a:xfrm>
            <a:off x="8046720" y="2377440"/>
            <a:ext cx="3566160" cy="2468880"/>
          </a:xfrm>
          <a:prstGeom prst="roundRect">
            <a:avLst>
              <a:gd name="adj" fmla="val 4444"/>
            </a:avLst>
          </a:prstGeom>
          <a:solidFill>
            <a:schemeClr val="accent2"/>
          </a:solidFill>
          <a:ln/>
        </p:spPr>
      </p:sp>
      <p:sp>
        <p:nvSpPr>
          <p:cNvPr id="17" name="Text 14"/>
          <p:cNvSpPr txBox="1"/>
          <p:nvPr/>
        </p:nvSpPr>
        <p:spPr>
          <a:xfrm>
            <a:off x="8321040" y="2606040"/>
            <a:ext cx="3017520" cy="2103120"/>
          </a:xfrm>
          <a:prstGeom prst="rect">
            <a:avLst/>
          </a:prstGeom>
          <a:noFill/>
          <a:ln/>
        </p:spPr>
        <p:txBody>
          <a:bodyPr wrap="square" lIns="0" tIns="0" rIns="0" bIns="0" rtlCol="0" anchor="t"/>
          <a:lstStyle/>
          <a:p>
            <a:pPr indent="0" marL="0">
              <a:spcAft>
                <a:spcPts val="600"/>
              </a:spcAft>
              <a:buNone/>
            </a:pPr>
            <a:r>
              <a:rPr lang="en-US" sz="1700" b="1" dirty="0">
                <a:solidFill>
                  <a:schemeClr val="bg1"/>
                </a:solidFill>
              </a:rPr>
              <a:t>Final response</a:t>
            </a:r>
            <a:endParaRPr lang="en-US" sz="1400" dirty="0"/>
          </a:p>
          <a:p>
            <a:pPr indent="0" marL="0">
              <a:spcAft>
                <a:spcPts val="600"/>
              </a:spcAft>
              <a:buNone/>
            </a:pPr>
            <a:r>
              <a:rPr lang="en-US" sz="1600" dirty="0">
                <a:solidFill>
                  <a:schemeClr val="bg1"/>
                </a:solidFill>
              </a:rPr>
              <a:t>40 + 20 = 60.</a:t>
            </a:r>
            <a:endParaRPr lang="en-US" sz="1400" dirty="0"/>
          </a:p>
          <a:p>
            <a:pPr indent="0" marL="0">
              <a:spcAft>
                <a:spcPts val="600"/>
              </a:spcAft>
              <a:buNone/>
            </a:pPr>
            <a:r>
              <a:rPr lang="en-US" sz="1600" dirty="0">
                <a:solidFill>
                  <a:schemeClr val="bg1"/>
                </a:solidFill>
              </a:rPr>
              <a:t>Weather in Chennai: [conditions and temperature from the weather tool].</a:t>
            </a:r>
            <a:endParaRPr lang="en-US" sz="1400" dirty="0"/>
          </a:p>
        </p:txBody>
      </p:sp>
      <p:sp>
        <p:nvSpPr>
          <p:cNvPr id="18" name="Text 15"/>
          <p:cNvSpPr txBox="1"/>
          <p:nvPr/>
        </p:nvSpPr>
        <p:spPr>
          <a:xfrm>
            <a:off x="548640" y="5394960"/>
            <a:ext cx="11064240" cy="548640"/>
          </a:xfrm>
          <a:prstGeom prst="rect">
            <a:avLst/>
          </a:prstGeom>
          <a:noFill/>
          <a:ln/>
        </p:spPr>
        <p:txBody>
          <a:bodyPr wrap="square" lIns="0" tIns="0" rIns="0" bIns="0" rtlCol="0" anchor="t"/>
          <a:lstStyle/>
          <a:p>
            <a:pPr indent="0" marL="0">
              <a:buNone/>
            </a:pPr>
            <a:r>
              <a:rPr lang="en-US" sz="1400" i="1" dirty="0">
                <a:solidFill>
                  <a:schemeClr val="accent6"/>
                </a:solidFill>
              </a:rPr>
              <a:t>Illustrative example only. No real weather readings are shown; live values come from the weather tool at run time.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Security and Error Handling</a:t>
            </a:r>
            <a:endParaRPr lang="en-US" sz="3400" dirty="0"/>
          </a:p>
        </p:txBody>
      </p:sp>
      <p:sp>
        <p:nvSpPr>
          <p:cNvPr id="4" name="sec-card-0"/>
          <p:cNvSpPr/>
          <p:nvPr/>
        </p:nvSpPr>
        <p:spPr>
          <a:xfrm>
            <a:off x="548640" y="1463040"/>
            <a:ext cx="3566160" cy="1920240"/>
          </a:xfrm>
          <a:prstGeom prst="roundRect">
            <a:avLst>
              <a:gd name="adj" fmla="val 5714"/>
            </a:avLst>
          </a:prstGeom>
          <a:solidFill>
            <a:schemeClr val="bg2"/>
          </a:solidFill>
          <a:ln/>
        </p:spPr>
      </p:sp>
      <p:sp>
        <p:nvSpPr>
          <p:cNvPr id="5" name="Shape 2"/>
          <p:cNvSpPr/>
          <p:nvPr/>
        </p:nvSpPr>
        <p:spPr>
          <a:xfrm>
            <a:off x="777240" y="1691640"/>
            <a:ext cx="457200" cy="457200"/>
          </a:xfrm>
          <a:prstGeom prst="ellipse">
            <a:avLst/>
          </a:prstGeom>
          <a:solidFill>
            <a:schemeClr val="accent2"/>
          </a:solidFill>
          <a:ln/>
        </p:spPr>
      </p:sp>
      <p:sp>
        <p:nvSpPr>
          <p:cNvPr id="6" name="Text 3"/>
          <p:cNvSpPr txBox="1"/>
          <p:nvPr/>
        </p:nvSpPr>
        <p:spPr>
          <a:xfrm>
            <a:off x="77724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4"/>
          <p:cNvSpPr txBox="1"/>
          <p:nvPr/>
        </p:nvSpPr>
        <p:spPr>
          <a:xfrm>
            <a:off x="1417320" y="16916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API keys in env variables</a:t>
            </a:r>
            <a:endParaRPr lang="en-US" sz="1700" dirty="0"/>
          </a:p>
        </p:txBody>
      </p:sp>
      <p:sp>
        <p:nvSpPr>
          <p:cNvPr id="8" name="Text 5"/>
          <p:cNvSpPr txBox="1"/>
          <p:nvPr/>
        </p:nvSpPr>
        <p:spPr>
          <a:xfrm>
            <a:off x="777240" y="2377440"/>
            <a:ext cx="3108960" cy="914400"/>
          </a:xfrm>
          <a:prstGeom prst="rect">
            <a:avLst/>
          </a:prstGeom>
          <a:noFill/>
          <a:ln/>
        </p:spPr>
        <p:txBody>
          <a:bodyPr wrap="square" lIns="0" tIns="0" rIns="0" bIns="0" rtlCol="0" anchor="t"/>
          <a:lstStyle/>
          <a:p>
            <a:pPr indent="0" marL="0">
              <a:buNone/>
            </a:pPr>
            <a:r>
              <a:rPr lang="en-US" sz="1400" dirty="0">
                <a:solidFill>
                  <a:schemeClr val="tx1"/>
                </a:solidFill>
              </a:rPr>
              <a:t>Secrets are read from the environment, never hard-coded</a:t>
            </a:r>
            <a:endParaRPr lang="en-US" sz="1400" dirty="0"/>
          </a:p>
        </p:txBody>
      </p:sp>
      <p:sp>
        <p:nvSpPr>
          <p:cNvPr id="9" name="sec-card-1"/>
          <p:cNvSpPr/>
          <p:nvPr/>
        </p:nvSpPr>
        <p:spPr>
          <a:xfrm>
            <a:off x="4297680" y="1463040"/>
            <a:ext cx="3566160" cy="1920240"/>
          </a:xfrm>
          <a:prstGeom prst="roundRect">
            <a:avLst>
              <a:gd name="adj" fmla="val 5714"/>
            </a:avLst>
          </a:prstGeom>
          <a:solidFill>
            <a:schemeClr val="bg2"/>
          </a:solidFill>
          <a:ln/>
        </p:spPr>
      </p:sp>
      <p:sp>
        <p:nvSpPr>
          <p:cNvPr id="10" name="Shape 7"/>
          <p:cNvSpPr/>
          <p:nvPr/>
        </p:nvSpPr>
        <p:spPr>
          <a:xfrm>
            <a:off x="4526280" y="1691640"/>
            <a:ext cx="457200" cy="457200"/>
          </a:xfrm>
          <a:prstGeom prst="ellipse">
            <a:avLst/>
          </a:prstGeom>
          <a:solidFill>
            <a:schemeClr val="accent2"/>
          </a:solidFill>
          <a:ln/>
        </p:spPr>
      </p:sp>
      <p:sp>
        <p:nvSpPr>
          <p:cNvPr id="11" name="Text 8"/>
          <p:cNvSpPr txBox="1"/>
          <p:nvPr/>
        </p:nvSpPr>
        <p:spPr>
          <a:xfrm>
            <a:off x="452628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Text 9"/>
          <p:cNvSpPr txBox="1"/>
          <p:nvPr/>
        </p:nvSpPr>
        <p:spPr>
          <a:xfrm>
            <a:off x="5166360" y="16916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Keep secrets out of Git</a:t>
            </a:r>
            <a:endParaRPr lang="en-US" sz="1700" dirty="0"/>
          </a:p>
        </p:txBody>
      </p:sp>
      <p:sp>
        <p:nvSpPr>
          <p:cNvPr id="13" name="Text 10"/>
          <p:cNvSpPr txBox="1"/>
          <p:nvPr/>
        </p:nvSpPr>
        <p:spPr>
          <a:xfrm>
            <a:off x="4526280" y="2377440"/>
            <a:ext cx="3108960" cy="914400"/>
          </a:xfrm>
          <a:prstGeom prst="rect">
            <a:avLst/>
          </a:prstGeom>
          <a:noFill/>
          <a:ln/>
        </p:spPr>
        <p:txBody>
          <a:bodyPr wrap="square" lIns="0" tIns="0" rIns="0" bIns="0" rtlCol="0" anchor="t"/>
          <a:lstStyle/>
          <a:p>
            <a:pPr indent="0" marL="0">
              <a:buNone/>
            </a:pPr>
            <a:r>
              <a:rPr lang="en-US" sz="1400" dirty="0">
                <a:solidFill>
                  <a:schemeClr val="tx1"/>
                </a:solidFill>
              </a:rPr>
              <a:t>Do not commit .env, credentials.json, or token.json</a:t>
            </a:r>
            <a:endParaRPr lang="en-US" sz="1400" dirty="0"/>
          </a:p>
        </p:txBody>
      </p:sp>
      <p:sp>
        <p:nvSpPr>
          <p:cNvPr id="14" name="sec-card-2"/>
          <p:cNvSpPr/>
          <p:nvPr/>
        </p:nvSpPr>
        <p:spPr>
          <a:xfrm>
            <a:off x="8046720" y="1463040"/>
            <a:ext cx="3566160" cy="1920240"/>
          </a:xfrm>
          <a:prstGeom prst="roundRect">
            <a:avLst>
              <a:gd name="adj" fmla="val 5714"/>
            </a:avLst>
          </a:prstGeom>
          <a:solidFill>
            <a:schemeClr val="bg2"/>
          </a:solidFill>
          <a:ln/>
        </p:spPr>
      </p:sp>
      <p:sp>
        <p:nvSpPr>
          <p:cNvPr id="15" name="Shape 12"/>
          <p:cNvSpPr/>
          <p:nvPr/>
        </p:nvSpPr>
        <p:spPr>
          <a:xfrm>
            <a:off x="8275320" y="1691640"/>
            <a:ext cx="457200" cy="457200"/>
          </a:xfrm>
          <a:prstGeom prst="ellipse">
            <a:avLst/>
          </a:prstGeom>
          <a:solidFill>
            <a:schemeClr val="accent2"/>
          </a:solidFill>
          <a:ln/>
        </p:spPr>
      </p:sp>
      <p:sp>
        <p:nvSpPr>
          <p:cNvPr id="16" name="Text 13"/>
          <p:cNvSpPr txBox="1"/>
          <p:nvPr/>
        </p:nvSpPr>
        <p:spPr>
          <a:xfrm>
            <a:off x="827532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7" name="Text 14"/>
          <p:cNvSpPr txBox="1"/>
          <p:nvPr/>
        </p:nvSpPr>
        <p:spPr>
          <a:xfrm>
            <a:off x="8915400" y="169164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Use .gitignore</a:t>
            </a:r>
            <a:endParaRPr lang="en-US" sz="1700" dirty="0"/>
          </a:p>
        </p:txBody>
      </p:sp>
      <p:sp>
        <p:nvSpPr>
          <p:cNvPr id="18" name="Text 15"/>
          <p:cNvSpPr txBox="1"/>
          <p:nvPr/>
        </p:nvSpPr>
        <p:spPr>
          <a:xfrm>
            <a:off x="8275320" y="2377440"/>
            <a:ext cx="3108960" cy="914400"/>
          </a:xfrm>
          <a:prstGeom prst="rect">
            <a:avLst/>
          </a:prstGeom>
          <a:noFill/>
          <a:ln/>
        </p:spPr>
        <p:txBody>
          <a:bodyPr wrap="square" lIns="0" tIns="0" rIns="0" bIns="0" rtlCol="0" anchor="t"/>
          <a:lstStyle/>
          <a:p>
            <a:pPr indent="0" marL="0">
              <a:buNone/>
            </a:pPr>
            <a:r>
              <a:rPr lang="en-US" sz="1400" dirty="0">
                <a:solidFill>
                  <a:schemeClr val="tx1"/>
                </a:solidFill>
              </a:rPr>
              <a:t>Exclude secret files and virtual environments</a:t>
            </a:r>
            <a:endParaRPr lang="en-US" sz="1400" dirty="0"/>
          </a:p>
        </p:txBody>
      </p:sp>
      <p:sp>
        <p:nvSpPr>
          <p:cNvPr id="19" name="sec-card-3"/>
          <p:cNvSpPr/>
          <p:nvPr/>
        </p:nvSpPr>
        <p:spPr>
          <a:xfrm>
            <a:off x="548640" y="3566160"/>
            <a:ext cx="3566160" cy="1920240"/>
          </a:xfrm>
          <a:prstGeom prst="roundRect">
            <a:avLst>
              <a:gd name="adj" fmla="val 5714"/>
            </a:avLst>
          </a:prstGeom>
          <a:solidFill>
            <a:schemeClr val="bg2"/>
          </a:solidFill>
          <a:ln/>
        </p:spPr>
      </p:sp>
      <p:sp>
        <p:nvSpPr>
          <p:cNvPr id="20" name="Shape 17"/>
          <p:cNvSpPr/>
          <p:nvPr/>
        </p:nvSpPr>
        <p:spPr>
          <a:xfrm>
            <a:off x="777240" y="3794760"/>
            <a:ext cx="457200" cy="457200"/>
          </a:xfrm>
          <a:prstGeom prst="ellipse">
            <a:avLst/>
          </a:prstGeom>
          <a:solidFill>
            <a:schemeClr val="accent2"/>
          </a:solidFill>
          <a:ln/>
        </p:spPr>
      </p:sp>
      <p:sp>
        <p:nvSpPr>
          <p:cNvPr id="21" name="Text 18"/>
          <p:cNvSpPr txBox="1"/>
          <p:nvPr/>
        </p:nvSpPr>
        <p:spPr>
          <a:xfrm>
            <a:off x="77724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2" name="Text 19"/>
          <p:cNvSpPr txBox="1"/>
          <p:nvPr/>
        </p:nvSpPr>
        <p:spPr>
          <a:xfrm>
            <a:off x="1417320" y="379476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Read-only Gmail</a:t>
            </a:r>
            <a:endParaRPr lang="en-US" sz="1700" dirty="0"/>
          </a:p>
        </p:txBody>
      </p:sp>
      <p:sp>
        <p:nvSpPr>
          <p:cNvPr id="23" name="Text 20"/>
          <p:cNvSpPr txBox="1"/>
          <p:nvPr/>
        </p:nvSpPr>
        <p:spPr>
          <a:xfrm>
            <a:off x="777240" y="4480560"/>
            <a:ext cx="3108960" cy="914400"/>
          </a:xfrm>
          <a:prstGeom prst="rect">
            <a:avLst/>
          </a:prstGeom>
          <a:noFill/>
          <a:ln/>
        </p:spPr>
        <p:txBody>
          <a:bodyPr wrap="square" lIns="0" tIns="0" rIns="0" bIns="0" rtlCol="0" anchor="t"/>
          <a:lstStyle/>
          <a:p>
            <a:pPr indent="0" marL="0">
              <a:buNone/>
            </a:pPr>
            <a:r>
              <a:rPr lang="en-US" sz="1400" dirty="0">
                <a:solidFill>
                  <a:schemeClr val="tx1"/>
                </a:solidFill>
              </a:rPr>
              <a:t>OAuth scope limited to reading email</a:t>
            </a:r>
            <a:endParaRPr lang="en-US" sz="1400" dirty="0"/>
          </a:p>
        </p:txBody>
      </p:sp>
      <p:sp>
        <p:nvSpPr>
          <p:cNvPr id="24" name="sec-card-4"/>
          <p:cNvSpPr/>
          <p:nvPr/>
        </p:nvSpPr>
        <p:spPr>
          <a:xfrm>
            <a:off x="4297680" y="3566160"/>
            <a:ext cx="3566160" cy="1920240"/>
          </a:xfrm>
          <a:prstGeom prst="roundRect">
            <a:avLst>
              <a:gd name="adj" fmla="val 5714"/>
            </a:avLst>
          </a:prstGeom>
          <a:solidFill>
            <a:schemeClr val="bg2"/>
          </a:solidFill>
          <a:ln/>
        </p:spPr>
      </p:sp>
      <p:sp>
        <p:nvSpPr>
          <p:cNvPr id="25" name="Shape 22"/>
          <p:cNvSpPr/>
          <p:nvPr/>
        </p:nvSpPr>
        <p:spPr>
          <a:xfrm>
            <a:off x="4526280" y="3794760"/>
            <a:ext cx="457200" cy="457200"/>
          </a:xfrm>
          <a:prstGeom prst="ellipse">
            <a:avLst/>
          </a:prstGeom>
          <a:solidFill>
            <a:schemeClr val="accent2"/>
          </a:solidFill>
          <a:ln/>
        </p:spPr>
      </p:sp>
      <p:sp>
        <p:nvSpPr>
          <p:cNvPr id="26" name="Text 23"/>
          <p:cNvSpPr txBox="1"/>
          <p:nvPr/>
        </p:nvSpPr>
        <p:spPr>
          <a:xfrm>
            <a:off x="452628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27" name="Text 24"/>
          <p:cNvSpPr txBox="1"/>
          <p:nvPr/>
        </p:nvSpPr>
        <p:spPr>
          <a:xfrm>
            <a:off x="5166360" y="379476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Restricted SQL</a:t>
            </a:r>
            <a:endParaRPr lang="en-US" sz="1700" dirty="0"/>
          </a:p>
        </p:txBody>
      </p:sp>
      <p:sp>
        <p:nvSpPr>
          <p:cNvPr id="28" name="Text 25"/>
          <p:cNvSpPr txBox="1"/>
          <p:nvPr/>
        </p:nvSpPr>
        <p:spPr>
          <a:xfrm>
            <a:off x="4526280" y="4480560"/>
            <a:ext cx="3108960" cy="914400"/>
          </a:xfrm>
          <a:prstGeom prst="rect">
            <a:avLst/>
          </a:prstGeom>
          <a:noFill/>
          <a:ln/>
        </p:spPr>
        <p:txBody>
          <a:bodyPr wrap="square" lIns="0" tIns="0" rIns="0" bIns="0" rtlCol="0" anchor="t"/>
          <a:lstStyle/>
          <a:p>
            <a:pPr indent="0" marL="0">
              <a:buNone/>
            </a:pPr>
            <a:r>
              <a:rPr lang="en-US" sz="1400" dirty="0">
                <a:solidFill>
                  <a:schemeClr val="tx1"/>
                </a:solidFill>
              </a:rPr>
              <a:t>Validate queries; allow SELECT only</a:t>
            </a:r>
            <a:endParaRPr lang="en-US" sz="1400" dirty="0"/>
          </a:p>
        </p:txBody>
      </p:sp>
      <p:sp>
        <p:nvSpPr>
          <p:cNvPr id="29" name="sec-card-5"/>
          <p:cNvSpPr/>
          <p:nvPr/>
        </p:nvSpPr>
        <p:spPr>
          <a:xfrm>
            <a:off x="8046720" y="3566160"/>
            <a:ext cx="3566160" cy="1920240"/>
          </a:xfrm>
          <a:prstGeom prst="roundRect">
            <a:avLst>
              <a:gd name="adj" fmla="val 5714"/>
            </a:avLst>
          </a:prstGeom>
          <a:solidFill>
            <a:schemeClr val="bg2"/>
          </a:solidFill>
          <a:ln/>
        </p:spPr>
      </p:sp>
      <p:sp>
        <p:nvSpPr>
          <p:cNvPr id="30" name="Shape 27"/>
          <p:cNvSpPr/>
          <p:nvPr/>
        </p:nvSpPr>
        <p:spPr>
          <a:xfrm>
            <a:off x="8275320" y="3794760"/>
            <a:ext cx="457200" cy="457200"/>
          </a:xfrm>
          <a:prstGeom prst="ellipse">
            <a:avLst/>
          </a:prstGeom>
          <a:solidFill>
            <a:schemeClr val="accent2"/>
          </a:solidFill>
          <a:ln/>
        </p:spPr>
      </p:sp>
      <p:sp>
        <p:nvSpPr>
          <p:cNvPr id="31" name="Text 28"/>
          <p:cNvSpPr txBox="1"/>
          <p:nvPr/>
        </p:nvSpPr>
        <p:spPr>
          <a:xfrm>
            <a:off x="827532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32" name="Text 29"/>
          <p:cNvSpPr txBox="1"/>
          <p:nvPr/>
        </p:nvSpPr>
        <p:spPr>
          <a:xfrm>
            <a:off x="8915400" y="3794760"/>
            <a:ext cx="2560320" cy="457200"/>
          </a:xfrm>
          <a:prstGeom prst="rect">
            <a:avLst/>
          </a:prstGeom>
          <a:noFill/>
          <a:ln/>
        </p:spPr>
        <p:txBody>
          <a:bodyPr wrap="square" lIns="0" tIns="0" rIns="0" bIns="0" rtlCol="0" anchor="ctr"/>
          <a:lstStyle/>
          <a:p>
            <a:pPr indent="0" marL="0">
              <a:buNone/>
            </a:pPr>
            <a:r>
              <a:rPr lang="en-US" sz="1700" b="1" dirty="0">
                <a:solidFill>
                  <a:schemeClr val="tx2"/>
                </a:solidFill>
              </a:rPr>
              <a:t>Safe error handling</a:t>
            </a:r>
            <a:endParaRPr lang="en-US" sz="1700" dirty="0"/>
          </a:p>
        </p:txBody>
      </p:sp>
      <p:sp>
        <p:nvSpPr>
          <p:cNvPr id="33" name="Text 30"/>
          <p:cNvSpPr txBox="1"/>
          <p:nvPr/>
        </p:nvSpPr>
        <p:spPr>
          <a:xfrm>
            <a:off x="8275320" y="4480560"/>
            <a:ext cx="3108960" cy="914400"/>
          </a:xfrm>
          <a:prstGeom prst="rect">
            <a:avLst/>
          </a:prstGeom>
          <a:noFill/>
          <a:ln/>
        </p:spPr>
        <p:txBody>
          <a:bodyPr wrap="square" lIns="0" tIns="0" rIns="0" bIns="0" rtlCol="0" anchor="t"/>
          <a:lstStyle/>
          <a:p>
            <a:pPr indent="0" marL="0">
              <a:buNone/>
            </a:pPr>
            <a:r>
              <a:rPr lang="en-US" sz="1400" dirty="0">
                <a:solidFill>
                  <a:schemeClr val="tx1"/>
                </a:solidFill>
              </a:rPr>
              <a:t>Handle API errors and missing credentials gracefully</a:t>
            </a:r>
            <a:endParaRPr lang="en-US" sz="1400" dirty="0"/>
          </a:p>
        </p:txBody>
      </p:sp>
      <p:sp>
        <p:nvSpPr>
          <p:cNvPr id="34" name="Text 3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i="1" dirty="0">
                <a:solidFill>
                  <a:schemeClr val="accent6"/>
                </a:solidFill>
              </a:rPr>
              <a:t>Assumption: practices come from the project description; verify against the repository before publishing.</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tx2"/>
                </a:solidFill>
              </a:rPr>
              <a:t>Limitations and Future Enhancements</a:t>
            </a:r>
            <a:endParaRPr lang="en-US" sz="3400" dirty="0"/>
          </a:p>
        </p:txBody>
      </p:sp>
      <p:sp>
        <p:nvSpPr>
          <p:cNvPr id="4" name="future-card-0"/>
          <p:cNvSpPr/>
          <p:nvPr/>
        </p:nvSpPr>
        <p:spPr>
          <a:xfrm>
            <a:off x="548640" y="1463040"/>
            <a:ext cx="3566160" cy="1920240"/>
          </a:xfrm>
          <a:prstGeom prst="roundRect">
            <a:avLst>
              <a:gd name="adj" fmla="val 5714"/>
            </a:avLst>
          </a:prstGeom>
          <a:solidFill>
            <a:schemeClr val="bg2"/>
          </a:solidFill>
          <a:ln/>
        </p:spPr>
      </p:sp>
      <p:sp>
        <p:nvSpPr>
          <p:cNvPr id="5" name="future-tag-0"/>
          <p:cNvSpPr/>
          <p:nvPr/>
        </p:nvSpPr>
        <p:spPr>
          <a:xfrm>
            <a:off x="777240" y="1691640"/>
            <a:ext cx="1005840" cy="365760"/>
          </a:xfrm>
          <a:prstGeom prst="roundRect">
            <a:avLst>
              <a:gd name="adj" fmla="val 30000"/>
            </a:avLst>
          </a:prstGeom>
          <a:solidFill>
            <a:schemeClr val="accent1"/>
          </a:solidFill>
          <a:ln/>
        </p:spPr>
      </p:sp>
      <p:sp>
        <p:nvSpPr>
          <p:cNvPr id="6" name="Text 3"/>
          <p:cNvSpPr txBox="1"/>
          <p:nvPr/>
        </p:nvSpPr>
        <p:spPr>
          <a:xfrm>
            <a:off x="777240" y="169164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FUTURE</a:t>
            </a:r>
            <a:endParaRPr lang="en-US" sz="1200" dirty="0"/>
          </a:p>
        </p:txBody>
      </p:sp>
      <p:sp>
        <p:nvSpPr>
          <p:cNvPr id="7" name="Text 4"/>
          <p:cNvSpPr txBox="1"/>
          <p:nvPr/>
        </p:nvSpPr>
        <p:spPr>
          <a:xfrm>
            <a:off x="777240" y="2240280"/>
            <a:ext cx="3108960" cy="457200"/>
          </a:xfrm>
          <a:prstGeom prst="rect">
            <a:avLst/>
          </a:prstGeom>
          <a:noFill/>
          <a:ln/>
        </p:spPr>
        <p:txBody>
          <a:bodyPr wrap="square" lIns="0" tIns="0" rIns="0" bIns="0" rtlCol="0" anchor="t"/>
          <a:lstStyle/>
          <a:p>
            <a:pPr indent="0" marL="0">
              <a:buNone/>
            </a:pPr>
            <a:r>
              <a:rPr lang="en-US" sz="1800" b="1" dirty="0">
                <a:solidFill>
                  <a:schemeClr val="tx2"/>
                </a:solidFill>
              </a:rPr>
              <a:t>Conversation memory</a:t>
            </a:r>
            <a:endParaRPr lang="en-US" sz="1800" dirty="0"/>
          </a:p>
        </p:txBody>
      </p:sp>
      <p:sp>
        <p:nvSpPr>
          <p:cNvPr id="8" name="Text 5"/>
          <p:cNvSpPr txBox="1"/>
          <p:nvPr/>
        </p:nvSpPr>
        <p:spPr>
          <a:xfrm>
            <a:off x="777240" y="2743200"/>
            <a:ext cx="3108960" cy="502920"/>
          </a:xfrm>
          <a:prstGeom prst="rect">
            <a:avLst/>
          </a:prstGeom>
          <a:noFill/>
          <a:ln/>
        </p:spPr>
        <p:txBody>
          <a:bodyPr wrap="square" lIns="0" tIns="0" rIns="0" bIns="0" rtlCol="0" anchor="t"/>
          <a:lstStyle/>
          <a:p>
            <a:pPr indent="0" marL="0">
              <a:buNone/>
            </a:pPr>
            <a:r>
              <a:rPr lang="en-US" sz="1400" dirty="0">
                <a:solidFill>
                  <a:schemeClr val="tx1"/>
                </a:solidFill>
              </a:rPr>
              <a:t>Remember context across requests</a:t>
            </a:r>
            <a:endParaRPr lang="en-US" sz="1400" dirty="0"/>
          </a:p>
        </p:txBody>
      </p:sp>
      <p:sp>
        <p:nvSpPr>
          <p:cNvPr id="9" name="future-card-1"/>
          <p:cNvSpPr/>
          <p:nvPr/>
        </p:nvSpPr>
        <p:spPr>
          <a:xfrm>
            <a:off x="4297680" y="1463040"/>
            <a:ext cx="3566160" cy="1920240"/>
          </a:xfrm>
          <a:prstGeom prst="roundRect">
            <a:avLst>
              <a:gd name="adj" fmla="val 5714"/>
            </a:avLst>
          </a:prstGeom>
          <a:solidFill>
            <a:schemeClr val="bg2"/>
          </a:solidFill>
          <a:ln/>
        </p:spPr>
      </p:sp>
      <p:sp>
        <p:nvSpPr>
          <p:cNvPr id="10" name="future-tag-1"/>
          <p:cNvSpPr/>
          <p:nvPr/>
        </p:nvSpPr>
        <p:spPr>
          <a:xfrm>
            <a:off x="4526280" y="1691640"/>
            <a:ext cx="1005840" cy="365760"/>
          </a:xfrm>
          <a:prstGeom prst="roundRect">
            <a:avLst>
              <a:gd name="adj" fmla="val 30000"/>
            </a:avLst>
          </a:prstGeom>
          <a:solidFill>
            <a:schemeClr val="accent1"/>
          </a:solidFill>
          <a:ln/>
        </p:spPr>
      </p:sp>
      <p:sp>
        <p:nvSpPr>
          <p:cNvPr id="11" name="Text 8"/>
          <p:cNvSpPr txBox="1"/>
          <p:nvPr/>
        </p:nvSpPr>
        <p:spPr>
          <a:xfrm>
            <a:off x="4526280" y="169164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FUTURE</a:t>
            </a:r>
            <a:endParaRPr lang="en-US" sz="1200" dirty="0"/>
          </a:p>
        </p:txBody>
      </p:sp>
      <p:sp>
        <p:nvSpPr>
          <p:cNvPr id="12" name="Text 9"/>
          <p:cNvSpPr txBox="1"/>
          <p:nvPr/>
        </p:nvSpPr>
        <p:spPr>
          <a:xfrm>
            <a:off x="4526280" y="2240280"/>
            <a:ext cx="3108960" cy="457200"/>
          </a:xfrm>
          <a:prstGeom prst="rect">
            <a:avLst/>
          </a:prstGeom>
          <a:noFill/>
          <a:ln/>
        </p:spPr>
        <p:txBody>
          <a:bodyPr wrap="square" lIns="0" tIns="0" rIns="0" bIns="0" rtlCol="0" anchor="t"/>
          <a:lstStyle/>
          <a:p>
            <a:pPr indent="0" marL="0">
              <a:buNone/>
            </a:pPr>
            <a:r>
              <a:rPr lang="en-US" sz="1800" b="1" dirty="0">
                <a:solidFill>
                  <a:schemeClr val="tx2"/>
                </a:solidFill>
              </a:rPr>
              <a:t>Logging and error handling</a:t>
            </a:r>
            <a:endParaRPr lang="en-US" sz="1800" dirty="0"/>
          </a:p>
        </p:txBody>
      </p:sp>
      <p:sp>
        <p:nvSpPr>
          <p:cNvPr id="13" name="Text 10"/>
          <p:cNvSpPr txBox="1"/>
          <p:nvPr/>
        </p:nvSpPr>
        <p:spPr>
          <a:xfrm>
            <a:off x="4526280" y="2743200"/>
            <a:ext cx="3108960" cy="502920"/>
          </a:xfrm>
          <a:prstGeom prst="rect">
            <a:avLst/>
          </a:prstGeom>
          <a:noFill/>
          <a:ln/>
        </p:spPr>
        <p:txBody>
          <a:bodyPr wrap="square" lIns="0" tIns="0" rIns="0" bIns="0" rtlCol="0" anchor="t"/>
          <a:lstStyle/>
          <a:p>
            <a:pPr indent="0" marL="0">
              <a:buNone/>
            </a:pPr>
            <a:r>
              <a:rPr lang="en-US" sz="1400" dirty="0">
                <a:solidFill>
                  <a:schemeClr val="tx1"/>
                </a:solidFill>
              </a:rPr>
              <a:t>Better diagnostics and clearer failures</a:t>
            </a:r>
            <a:endParaRPr lang="en-US" sz="1400" dirty="0"/>
          </a:p>
        </p:txBody>
      </p:sp>
      <p:sp>
        <p:nvSpPr>
          <p:cNvPr id="14" name="future-card-2"/>
          <p:cNvSpPr/>
          <p:nvPr/>
        </p:nvSpPr>
        <p:spPr>
          <a:xfrm>
            <a:off x="8046720" y="1463040"/>
            <a:ext cx="3566160" cy="1920240"/>
          </a:xfrm>
          <a:prstGeom prst="roundRect">
            <a:avLst>
              <a:gd name="adj" fmla="val 5714"/>
            </a:avLst>
          </a:prstGeom>
          <a:solidFill>
            <a:schemeClr val="bg2"/>
          </a:solidFill>
          <a:ln/>
        </p:spPr>
      </p:sp>
      <p:sp>
        <p:nvSpPr>
          <p:cNvPr id="15" name="future-tag-2"/>
          <p:cNvSpPr/>
          <p:nvPr/>
        </p:nvSpPr>
        <p:spPr>
          <a:xfrm>
            <a:off x="8275320" y="1691640"/>
            <a:ext cx="1005840" cy="365760"/>
          </a:xfrm>
          <a:prstGeom prst="roundRect">
            <a:avLst>
              <a:gd name="adj" fmla="val 30000"/>
            </a:avLst>
          </a:prstGeom>
          <a:solidFill>
            <a:schemeClr val="accent1"/>
          </a:solidFill>
          <a:ln/>
        </p:spPr>
      </p:sp>
      <p:sp>
        <p:nvSpPr>
          <p:cNvPr id="16" name="Text 13"/>
          <p:cNvSpPr txBox="1"/>
          <p:nvPr/>
        </p:nvSpPr>
        <p:spPr>
          <a:xfrm>
            <a:off x="8275320" y="169164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FUTURE</a:t>
            </a:r>
            <a:endParaRPr lang="en-US" sz="1200" dirty="0"/>
          </a:p>
        </p:txBody>
      </p:sp>
      <p:sp>
        <p:nvSpPr>
          <p:cNvPr id="17" name="Text 14"/>
          <p:cNvSpPr txBox="1"/>
          <p:nvPr/>
        </p:nvSpPr>
        <p:spPr>
          <a:xfrm>
            <a:off x="8275320" y="2240280"/>
            <a:ext cx="3108960" cy="457200"/>
          </a:xfrm>
          <a:prstGeom prst="rect">
            <a:avLst/>
          </a:prstGeom>
          <a:noFill/>
          <a:ln/>
        </p:spPr>
        <p:txBody>
          <a:bodyPr wrap="square" lIns="0" tIns="0" rIns="0" bIns="0" rtlCol="0" anchor="t"/>
          <a:lstStyle/>
          <a:p>
            <a:pPr indent="0" marL="0">
              <a:buNone/>
            </a:pPr>
            <a:r>
              <a:rPr lang="en-US" sz="1800" b="1" dirty="0">
                <a:solidFill>
                  <a:schemeClr val="tx2"/>
                </a:solidFill>
              </a:rPr>
              <a:t>More tools and APIs</a:t>
            </a:r>
            <a:endParaRPr lang="en-US" sz="1800" dirty="0"/>
          </a:p>
        </p:txBody>
      </p:sp>
      <p:sp>
        <p:nvSpPr>
          <p:cNvPr id="18" name="Text 15"/>
          <p:cNvSpPr txBox="1"/>
          <p:nvPr/>
        </p:nvSpPr>
        <p:spPr>
          <a:xfrm>
            <a:off x="8275320" y="2743200"/>
            <a:ext cx="3108960" cy="502920"/>
          </a:xfrm>
          <a:prstGeom prst="rect">
            <a:avLst/>
          </a:prstGeom>
          <a:noFill/>
          <a:ln/>
        </p:spPr>
        <p:txBody>
          <a:bodyPr wrap="square" lIns="0" tIns="0" rIns="0" bIns="0" rtlCol="0" anchor="t"/>
          <a:lstStyle/>
          <a:p>
            <a:pPr indent="0" marL="0">
              <a:buNone/>
            </a:pPr>
            <a:r>
              <a:rPr lang="en-US" sz="1400" dirty="0">
                <a:solidFill>
                  <a:schemeClr val="tx1"/>
                </a:solidFill>
              </a:rPr>
              <a:t>Extend what the agent can do</a:t>
            </a:r>
            <a:endParaRPr lang="en-US" sz="1400" dirty="0"/>
          </a:p>
        </p:txBody>
      </p:sp>
      <p:sp>
        <p:nvSpPr>
          <p:cNvPr id="19" name="future-card-3"/>
          <p:cNvSpPr/>
          <p:nvPr/>
        </p:nvSpPr>
        <p:spPr>
          <a:xfrm>
            <a:off x="548640" y="3566160"/>
            <a:ext cx="3566160" cy="1920240"/>
          </a:xfrm>
          <a:prstGeom prst="roundRect">
            <a:avLst>
              <a:gd name="adj" fmla="val 5714"/>
            </a:avLst>
          </a:prstGeom>
          <a:solidFill>
            <a:schemeClr val="bg2"/>
          </a:solidFill>
          <a:ln/>
        </p:spPr>
      </p:sp>
      <p:sp>
        <p:nvSpPr>
          <p:cNvPr id="20" name="future-tag-3"/>
          <p:cNvSpPr/>
          <p:nvPr/>
        </p:nvSpPr>
        <p:spPr>
          <a:xfrm>
            <a:off x="777240" y="3794760"/>
            <a:ext cx="1005840" cy="365760"/>
          </a:xfrm>
          <a:prstGeom prst="roundRect">
            <a:avLst>
              <a:gd name="adj" fmla="val 30000"/>
            </a:avLst>
          </a:prstGeom>
          <a:solidFill>
            <a:schemeClr val="accent1"/>
          </a:solidFill>
          <a:ln/>
        </p:spPr>
      </p:sp>
      <p:sp>
        <p:nvSpPr>
          <p:cNvPr id="21" name="Text 18"/>
          <p:cNvSpPr txBox="1"/>
          <p:nvPr/>
        </p:nvSpPr>
        <p:spPr>
          <a:xfrm>
            <a:off x="777240" y="379476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FUTURE</a:t>
            </a:r>
            <a:endParaRPr lang="en-US" sz="1200" dirty="0"/>
          </a:p>
        </p:txBody>
      </p:sp>
      <p:sp>
        <p:nvSpPr>
          <p:cNvPr id="22" name="Text 19"/>
          <p:cNvSpPr txBox="1"/>
          <p:nvPr/>
        </p:nvSpPr>
        <p:spPr>
          <a:xfrm>
            <a:off x="777240" y="4343400"/>
            <a:ext cx="3108960" cy="457200"/>
          </a:xfrm>
          <a:prstGeom prst="rect">
            <a:avLst/>
          </a:prstGeom>
          <a:noFill/>
          <a:ln/>
        </p:spPr>
        <p:txBody>
          <a:bodyPr wrap="square" lIns="0" tIns="0" rIns="0" bIns="0" rtlCol="0" anchor="t"/>
          <a:lstStyle/>
          <a:p>
            <a:pPr indent="0" marL="0">
              <a:buNone/>
            </a:pPr>
            <a:r>
              <a:rPr lang="en-US" sz="1800" b="1" dirty="0">
                <a:solidFill>
                  <a:schemeClr val="tx2"/>
                </a:solidFill>
              </a:rPr>
              <a:t>Authentication</a:t>
            </a:r>
            <a:endParaRPr lang="en-US" sz="1800" dirty="0"/>
          </a:p>
        </p:txBody>
      </p:sp>
      <p:sp>
        <p:nvSpPr>
          <p:cNvPr id="23" name="Text 20"/>
          <p:cNvSpPr txBox="1"/>
          <p:nvPr/>
        </p:nvSpPr>
        <p:spPr>
          <a:xfrm>
            <a:off x="777240" y="4846320"/>
            <a:ext cx="3108960" cy="502920"/>
          </a:xfrm>
          <a:prstGeom prst="rect">
            <a:avLst/>
          </a:prstGeom>
          <a:noFill/>
          <a:ln/>
        </p:spPr>
        <p:txBody>
          <a:bodyPr wrap="square" lIns="0" tIns="0" rIns="0" bIns="0" rtlCol="0" anchor="t"/>
          <a:lstStyle/>
          <a:p>
            <a:pPr indent="0" marL="0">
              <a:buNone/>
            </a:pPr>
            <a:r>
              <a:rPr lang="en-US" sz="1400" dirty="0">
                <a:solidFill>
                  <a:schemeClr val="tx1"/>
                </a:solidFill>
              </a:rPr>
              <a:t>Access control for users</a:t>
            </a:r>
            <a:endParaRPr lang="en-US" sz="1400" dirty="0"/>
          </a:p>
        </p:txBody>
      </p:sp>
      <p:sp>
        <p:nvSpPr>
          <p:cNvPr id="24" name="future-card-4"/>
          <p:cNvSpPr/>
          <p:nvPr/>
        </p:nvSpPr>
        <p:spPr>
          <a:xfrm>
            <a:off x="4297680" y="3566160"/>
            <a:ext cx="3566160" cy="1920240"/>
          </a:xfrm>
          <a:prstGeom prst="roundRect">
            <a:avLst>
              <a:gd name="adj" fmla="val 5714"/>
            </a:avLst>
          </a:prstGeom>
          <a:solidFill>
            <a:schemeClr val="bg2"/>
          </a:solidFill>
          <a:ln/>
        </p:spPr>
      </p:sp>
      <p:sp>
        <p:nvSpPr>
          <p:cNvPr id="25" name="future-tag-4"/>
          <p:cNvSpPr/>
          <p:nvPr/>
        </p:nvSpPr>
        <p:spPr>
          <a:xfrm>
            <a:off x="4526280" y="3794760"/>
            <a:ext cx="1005840" cy="365760"/>
          </a:xfrm>
          <a:prstGeom prst="roundRect">
            <a:avLst>
              <a:gd name="adj" fmla="val 30000"/>
            </a:avLst>
          </a:prstGeom>
          <a:solidFill>
            <a:schemeClr val="accent1"/>
          </a:solidFill>
          <a:ln/>
        </p:spPr>
      </p:sp>
      <p:sp>
        <p:nvSpPr>
          <p:cNvPr id="26" name="Text 23"/>
          <p:cNvSpPr txBox="1"/>
          <p:nvPr/>
        </p:nvSpPr>
        <p:spPr>
          <a:xfrm>
            <a:off x="4526280" y="379476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FUTURE</a:t>
            </a:r>
            <a:endParaRPr lang="en-US" sz="1200" dirty="0"/>
          </a:p>
        </p:txBody>
      </p:sp>
      <p:sp>
        <p:nvSpPr>
          <p:cNvPr id="27" name="Text 24"/>
          <p:cNvSpPr txBox="1"/>
          <p:nvPr/>
        </p:nvSpPr>
        <p:spPr>
          <a:xfrm>
            <a:off x="4526280" y="4343400"/>
            <a:ext cx="3108960" cy="457200"/>
          </a:xfrm>
          <a:prstGeom prst="rect">
            <a:avLst/>
          </a:prstGeom>
          <a:noFill/>
          <a:ln/>
        </p:spPr>
        <p:txBody>
          <a:bodyPr wrap="square" lIns="0" tIns="0" rIns="0" bIns="0" rtlCol="0" anchor="t"/>
          <a:lstStyle/>
          <a:p>
            <a:pPr indent="0" marL="0">
              <a:buNone/>
            </a:pPr>
            <a:r>
              <a:rPr lang="en-US" sz="1800" b="1" dirty="0">
                <a:solidFill>
                  <a:schemeClr val="tx2"/>
                </a:solidFill>
              </a:rPr>
              <a:t>Cloud deployment</a:t>
            </a:r>
            <a:endParaRPr lang="en-US" sz="1800" dirty="0"/>
          </a:p>
        </p:txBody>
      </p:sp>
      <p:sp>
        <p:nvSpPr>
          <p:cNvPr id="28" name="Text 25"/>
          <p:cNvSpPr txBox="1"/>
          <p:nvPr/>
        </p:nvSpPr>
        <p:spPr>
          <a:xfrm>
            <a:off x="4526280" y="4846320"/>
            <a:ext cx="3108960" cy="502920"/>
          </a:xfrm>
          <a:prstGeom prst="rect">
            <a:avLst/>
          </a:prstGeom>
          <a:noFill/>
          <a:ln/>
        </p:spPr>
        <p:txBody>
          <a:bodyPr wrap="square" lIns="0" tIns="0" rIns="0" bIns="0" rtlCol="0" anchor="t"/>
          <a:lstStyle/>
          <a:p>
            <a:pPr indent="0" marL="0">
              <a:buNone/>
            </a:pPr>
            <a:r>
              <a:rPr lang="en-US" sz="1400" dirty="0">
                <a:solidFill>
                  <a:schemeClr val="tx1"/>
                </a:solidFill>
              </a:rPr>
              <a:t>Host the app on a cloud platform</a:t>
            </a:r>
            <a:endParaRPr lang="en-US" sz="1400" dirty="0"/>
          </a:p>
        </p:txBody>
      </p:sp>
      <p:sp>
        <p:nvSpPr>
          <p:cNvPr id="29" name="future-card-5"/>
          <p:cNvSpPr/>
          <p:nvPr/>
        </p:nvSpPr>
        <p:spPr>
          <a:xfrm>
            <a:off x="8046720" y="3566160"/>
            <a:ext cx="3566160" cy="1920240"/>
          </a:xfrm>
          <a:prstGeom prst="roundRect">
            <a:avLst>
              <a:gd name="adj" fmla="val 5714"/>
            </a:avLst>
          </a:prstGeom>
          <a:solidFill>
            <a:schemeClr val="bg2"/>
          </a:solidFill>
          <a:ln/>
        </p:spPr>
      </p:sp>
      <p:sp>
        <p:nvSpPr>
          <p:cNvPr id="30" name="future-tag-5"/>
          <p:cNvSpPr/>
          <p:nvPr/>
        </p:nvSpPr>
        <p:spPr>
          <a:xfrm>
            <a:off x="8275320" y="3794760"/>
            <a:ext cx="1005840" cy="365760"/>
          </a:xfrm>
          <a:prstGeom prst="roundRect">
            <a:avLst>
              <a:gd name="adj" fmla="val 30000"/>
            </a:avLst>
          </a:prstGeom>
          <a:solidFill>
            <a:schemeClr val="accent1"/>
          </a:solidFill>
          <a:ln/>
        </p:spPr>
      </p:sp>
      <p:sp>
        <p:nvSpPr>
          <p:cNvPr id="31" name="Text 28"/>
          <p:cNvSpPr txBox="1"/>
          <p:nvPr/>
        </p:nvSpPr>
        <p:spPr>
          <a:xfrm>
            <a:off x="8275320" y="3794760"/>
            <a:ext cx="1005840" cy="365760"/>
          </a:xfrm>
          <a:prstGeom prst="rect">
            <a:avLst/>
          </a:prstGeom>
          <a:noFill/>
          <a:ln/>
        </p:spPr>
        <p:txBody>
          <a:bodyPr wrap="square" lIns="0" tIns="0" rIns="0" bIns="0" rtlCol="0" anchor="ctr"/>
          <a:lstStyle/>
          <a:p>
            <a:pPr algn="ctr" indent="0" marL="0">
              <a:buNone/>
            </a:pPr>
            <a:r>
              <a:rPr lang="en-US" sz="1200" b="1" dirty="0">
                <a:solidFill>
                  <a:schemeClr val="bg1"/>
                </a:solidFill>
              </a:rPr>
              <a:t>FUTURE</a:t>
            </a:r>
            <a:endParaRPr lang="en-US" sz="1200" dirty="0"/>
          </a:p>
        </p:txBody>
      </p:sp>
      <p:sp>
        <p:nvSpPr>
          <p:cNvPr id="32" name="Text 29"/>
          <p:cNvSpPr txBox="1"/>
          <p:nvPr/>
        </p:nvSpPr>
        <p:spPr>
          <a:xfrm>
            <a:off x="8275320" y="4343400"/>
            <a:ext cx="3108960" cy="457200"/>
          </a:xfrm>
          <a:prstGeom prst="rect">
            <a:avLst/>
          </a:prstGeom>
          <a:noFill/>
          <a:ln/>
        </p:spPr>
        <p:txBody>
          <a:bodyPr wrap="square" lIns="0" tIns="0" rIns="0" bIns="0" rtlCol="0" anchor="t"/>
          <a:lstStyle/>
          <a:p>
            <a:pPr indent="0" marL="0">
              <a:buNone/>
            </a:pPr>
            <a:r>
              <a:rPr lang="en-US" sz="1800" b="1" dirty="0">
                <a:solidFill>
                  <a:schemeClr val="tx2"/>
                </a:solidFill>
              </a:rPr>
              <a:t>Automated testing</a:t>
            </a:r>
            <a:endParaRPr lang="en-US" sz="1800" dirty="0"/>
          </a:p>
        </p:txBody>
      </p:sp>
      <p:sp>
        <p:nvSpPr>
          <p:cNvPr id="33" name="Text 30"/>
          <p:cNvSpPr txBox="1"/>
          <p:nvPr/>
        </p:nvSpPr>
        <p:spPr>
          <a:xfrm>
            <a:off x="8275320" y="4846320"/>
            <a:ext cx="3108960" cy="502920"/>
          </a:xfrm>
          <a:prstGeom prst="rect">
            <a:avLst/>
          </a:prstGeom>
          <a:noFill/>
          <a:ln/>
        </p:spPr>
        <p:txBody>
          <a:bodyPr wrap="square" lIns="0" tIns="0" rIns="0" bIns="0" rtlCol="0" anchor="t"/>
          <a:lstStyle/>
          <a:p>
            <a:pPr indent="0" marL="0">
              <a:buNone/>
            </a:pPr>
            <a:r>
              <a:rPr lang="en-US" sz="1400" dirty="0">
                <a:solidFill>
                  <a:schemeClr val="tx1"/>
                </a:solidFill>
              </a:rPr>
              <a:t>Safer changes and regression checks</a:t>
            </a:r>
            <a:endParaRPr lang="en-US" sz="1400" dirty="0"/>
          </a:p>
        </p:txBody>
      </p:sp>
      <p:sp>
        <p:nvSpPr>
          <p:cNvPr id="34" name="Text 31"/>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i="1" dirty="0">
                <a:solidFill>
                  <a:schemeClr val="accent6"/>
                </a:solidFill>
              </a:rPr>
              <a:t>Roadmap ideas only. None are claimed as implemented.</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nchor="ctr"/>
          <a:lstStyle/>
          <a:p>
            <a:pPr indent="0" marL="0">
              <a:buNone/>
            </a:pPr>
            <a:r>
              <a:rPr lang="en-US" sz="3400" b="1" dirty="0">
                <a:solidFill>
                  <a:schemeClr val="bg1"/>
                </a:solidFill>
              </a:rPr>
              <a:t>Conclusion and Live Demo</a:t>
            </a:r>
            <a:endParaRPr lang="en-US" sz="3400" dirty="0"/>
          </a:p>
        </p:txBody>
      </p:sp>
      <p:sp>
        <p:nvSpPr>
          <p:cNvPr id="4" name="Text 1"/>
          <p:cNvSpPr txBox="1"/>
          <p:nvPr/>
        </p:nvSpPr>
        <p:spPr>
          <a:xfrm>
            <a:off x="548640" y="1645920"/>
            <a:ext cx="5029200" cy="329184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One chat interface, seven tools</a:t>
            </a:r>
            <a:endParaRPr lang="en-US" sz="2000" dirty="0"/>
          </a:p>
          <a:p>
            <a:pPr marL="342900" indent="-342900">
              <a:spcAft>
                <a:spcPts val="1400"/>
              </a:spcAft>
              <a:buSzPct val="100000"/>
              <a:buChar char="•"/>
            </a:pPr>
            <a:r>
              <a:rPr lang="en-US" sz="2000" dirty="0">
                <a:solidFill>
                  <a:schemeClr val="bg1"/>
                </a:solidFill>
              </a:rPr>
              <a:t>LangGraph ReAct agent with Gemini 2.5 Flash decides when to use a tool</a:t>
            </a:r>
            <a:endParaRPr lang="en-US" sz="2000" dirty="0"/>
          </a:p>
          <a:p>
            <a:pPr marL="342900" indent="-342900">
              <a:spcAft>
                <a:spcPts val="1400"/>
              </a:spcAft>
              <a:buSzPct val="100000"/>
              <a:buChar char="•"/>
            </a:pPr>
            <a:r>
              <a:rPr lang="en-US" sz="2000" dirty="0">
                <a:solidFill>
                  <a:schemeClr val="bg1"/>
                </a:solidFill>
              </a:rPr>
              <a:t>Flask web app with environment-based secrets and read-only Gmail</a:t>
            </a:r>
            <a:endParaRPr lang="en-US" sz="2000" dirty="0"/>
          </a:p>
        </p:txBody>
      </p:sp>
      <p:sp>
        <p:nvSpPr>
          <p:cNvPr id="5" name="Text 2"/>
          <p:cNvSpPr txBox="1"/>
          <p:nvPr/>
        </p:nvSpPr>
        <p:spPr>
          <a:xfrm>
            <a:off x="548640" y="5394960"/>
            <a:ext cx="5029200" cy="640080"/>
          </a:xfrm>
          <a:prstGeom prst="rect">
            <a:avLst/>
          </a:prstGeom>
          <a:noFill/>
          <a:ln/>
        </p:spPr>
        <p:txBody>
          <a:bodyPr wrap="square" lIns="0" tIns="0" rIns="0" bIns="0" rtlCol="0" anchor="t"/>
          <a:lstStyle/>
          <a:p>
            <a:pPr indent="0" marL="0">
              <a:buNone/>
            </a:pPr>
            <a:r>
              <a:rPr lang="en-US" sz="3600" b="1" dirty="0">
                <a:solidFill>
                  <a:schemeClr val="accent4"/>
                </a:solidFill>
                <a:latin typeface="Cambria" pitchFamily="34" charset="0"/>
                <a:ea typeface="Cambria" pitchFamily="34" charset="-122"/>
                <a:cs typeface="Cambria" pitchFamily="34" charset="-120"/>
              </a:rPr>
              <a:t>Thank you</a:t>
            </a:r>
            <a:endParaRPr lang="en-US" sz="3600" dirty="0"/>
          </a:p>
        </p:txBody>
      </p:sp>
      <p:sp>
        <p:nvSpPr>
          <p:cNvPr id="6" name="Text 3"/>
          <p:cNvSpPr txBox="1"/>
          <p:nvPr/>
        </p:nvSpPr>
        <p:spPr>
          <a:xfrm>
            <a:off x="6217920" y="1463040"/>
            <a:ext cx="5394960" cy="365760"/>
          </a:xfrm>
          <a:prstGeom prst="rect">
            <a:avLst/>
          </a:prstGeom>
          <a:noFill/>
          <a:ln/>
        </p:spPr>
        <p:txBody>
          <a:bodyPr wrap="square" lIns="0" tIns="0" rIns="0" bIns="0" rtlCol="0" anchor="t"/>
          <a:lstStyle/>
          <a:p>
            <a:pPr indent="0" marL="0">
              <a:buNone/>
            </a:pPr>
            <a:r>
              <a:rPr lang="en-US" sz="2000" b="1" dirty="0">
                <a:solidFill>
                  <a:schemeClr val="accent4"/>
                </a:solidFill>
              </a:rPr>
              <a:t>Live demo sequence</a:t>
            </a:r>
            <a:endParaRPr lang="en-US" sz="2000" dirty="0"/>
          </a:p>
        </p:txBody>
      </p:sp>
      <p:sp>
        <p:nvSpPr>
          <p:cNvPr id="7" name="demo-row-0"/>
          <p:cNvSpPr/>
          <p:nvPr/>
        </p:nvSpPr>
        <p:spPr>
          <a:xfrm>
            <a:off x="6217920" y="1965960"/>
            <a:ext cx="5394960" cy="713232"/>
          </a:xfrm>
          <a:prstGeom prst="roundRect">
            <a:avLst>
              <a:gd name="adj" fmla="val 15385"/>
            </a:avLst>
          </a:prstGeom>
          <a:solidFill>
            <a:schemeClr val="accent3"/>
          </a:solidFill>
          <a:ln/>
        </p:spPr>
      </p:sp>
      <p:sp>
        <p:nvSpPr>
          <p:cNvPr id="8" name="Shape 5"/>
          <p:cNvSpPr/>
          <p:nvPr/>
        </p:nvSpPr>
        <p:spPr>
          <a:xfrm>
            <a:off x="6355080" y="2066544"/>
            <a:ext cx="512064" cy="512064"/>
          </a:xfrm>
          <a:prstGeom prst="ellipse">
            <a:avLst/>
          </a:prstGeom>
          <a:solidFill>
            <a:schemeClr val="accent2"/>
          </a:solidFill>
          <a:ln/>
        </p:spPr>
      </p:sp>
      <p:sp>
        <p:nvSpPr>
          <p:cNvPr id="9" name="Text 6"/>
          <p:cNvSpPr txBox="1"/>
          <p:nvPr/>
        </p:nvSpPr>
        <p:spPr>
          <a:xfrm>
            <a:off x="6355080" y="206654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0" name="Text 7"/>
          <p:cNvSpPr txBox="1"/>
          <p:nvPr/>
        </p:nvSpPr>
        <p:spPr>
          <a:xfrm>
            <a:off x="7040880" y="1965960"/>
            <a:ext cx="4480560" cy="713232"/>
          </a:xfrm>
          <a:prstGeom prst="rect">
            <a:avLst/>
          </a:prstGeom>
          <a:noFill/>
          <a:ln/>
        </p:spPr>
        <p:txBody>
          <a:bodyPr wrap="square" lIns="0" tIns="0" rIns="0" bIns="0" rtlCol="0" anchor="ctr"/>
          <a:lstStyle/>
          <a:p>
            <a:pPr indent="0" marL="0">
              <a:buNone/>
            </a:pPr>
            <a:r>
              <a:rPr lang="en-US" sz="1500" b="1" dirty="0">
                <a:solidFill>
                  <a:schemeClr val="accent4"/>
                </a:solidFill>
              </a:rPr>
              <a:t>Calculator  </a:t>
            </a:r>
            <a:pPr indent="0" marL="0">
              <a:buNone/>
            </a:pPr>
            <a:r>
              <a:rPr lang="en-US" sz="1500" dirty="0">
                <a:solidFill>
                  <a:schemeClr val="bg1"/>
                </a:solidFill>
              </a:rPr>
              <a:t>Ask: What is 125 × 8?</a:t>
            </a:r>
            <a:endParaRPr lang="en-US" sz="1500" dirty="0"/>
          </a:p>
        </p:txBody>
      </p:sp>
      <p:sp>
        <p:nvSpPr>
          <p:cNvPr id="11" name="demo-row-1"/>
          <p:cNvSpPr/>
          <p:nvPr/>
        </p:nvSpPr>
        <p:spPr>
          <a:xfrm>
            <a:off x="6217920" y="2788920"/>
            <a:ext cx="5394960" cy="713232"/>
          </a:xfrm>
          <a:prstGeom prst="roundRect">
            <a:avLst>
              <a:gd name="adj" fmla="val 15385"/>
            </a:avLst>
          </a:prstGeom>
          <a:solidFill>
            <a:schemeClr val="accent3"/>
          </a:solidFill>
          <a:ln/>
        </p:spPr>
      </p:sp>
      <p:sp>
        <p:nvSpPr>
          <p:cNvPr id="12" name="Shape 9"/>
          <p:cNvSpPr/>
          <p:nvPr/>
        </p:nvSpPr>
        <p:spPr>
          <a:xfrm>
            <a:off x="6355080" y="2889504"/>
            <a:ext cx="512064" cy="512064"/>
          </a:xfrm>
          <a:prstGeom prst="ellipse">
            <a:avLst/>
          </a:prstGeom>
          <a:solidFill>
            <a:schemeClr val="accent2"/>
          </a:solidFill>
          <a:ln/>
        </p:spPr>
      </p:sp>
      <p:sp>
        <p:nvSpPr>
          <p:cNvPr id="13" name="Text 10"/>
          <p:cNvSpPr txBox="1"/>
          <p:nvPr/>
        </p:nvSpPr>
        <p:spPr>
          <a:xfrm>
            <a:off x="6355080" y="288950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7040880" y="2788920"/>
            <a:ext cx="4480560" cy="713232"/>
          </a:xfrm>
          <a:prstGeom prst="rect">
            <a:avLst/>
          </a:prstGeom>
          <a:noFill/>
          <a:ln/>
        </p:spPr>
        <p:txBody>
          <a:bodyPr wrap="square" lIns="0" tIns="0" rIns="0" bIns="0" rtlCol="0" anchor="ctr"/>
          <a:lstStyle/>
          <a:p>
            <a:pPr indent="0" marL="0">
              <a:buNone/>
            </a:pPr>
            <a:r>
              <a:rPr lang="en-US" sz="1500" b="1" dirty="0">
                <a:solidFill>
                  <a:schemeClr val="accent4"/>
                </a:solidFill>
              </a:rPr>
              <a:t>Weather  </a:t>
            </a:r>
            <a:pPr indent="0" marL="0">
              <a:buNone/>
            </a:pPr>
            <a:r>
              <a:rPr lang="en-US" sz="1500" dirty="0">
                <a:solidFill>
                  <a:schemeClr val="bg1"/>
                </a:solidFill>
              </a:rPr>
              <a:t>Ask for the weather in Chennai</a:t>
            </a:r>
            <a:endParaRPr lang="en-US" sz="1500" dirty="0"/>
          </a:p>
        </p:txBody>
      </p:sp>
      <p:sp>
        <p:nvSpPr>
          <p:cNvPr id="15" name="demo-row-2"/>
          <p:cNvSpPr/>
          <p:nvPr/>
        </p:nvSpPr>
        <p:spPr>
          <a:xfrm>
            <a:off x="6217920" y="3611880"/>
            <a:ext cx="5394960" cy="713232"/>
          </a:xfrm>
          <a:prstGeom prst="roundRect">
            <a:avLst>
              <a:gd name="adj" fmla="val 15385"/>
            </a:avLst>
          </a:prstGeom>
          <a:solidFill>
            <a:schemeClr val="accent3"/>
          </a:solidFill>
          <a:ln/>
        </p:spPr>
      </p:sp>
      <p:sp>
        <p:nvSpPr>
          <p:cNvPr id="16" name="Shape 13"/>
          <p:cNvSpPr/>
          <p:nvPr/>
        </p:nvSpPr>
        <p:spPr>
          <a:xfrm>
            <a:off x="6355080" y="3712464"/>
            <a:ext cx="512064" cy="512064"/>
          </a:xfrm>
          <a:prstGeom prst="ellipse">
            <a:avLst/>
          </a:prstGeom>
          <a:solidFill>
            <a:schemeClr val="accent2"/>
          </a:solidFill>
          <a:ln/>
        </p:spPr>
      </p:sp>
      <p:sp>
        <p:nvSpPr>
          <p:cNvPr id="17" name="Text 14"/>
          <p:cNvSpPr txBox="1"/>
          <p:nvPr/>
        </p:nvSpPr>
        <p:spPr>
          <a:xfrm>
            <a:off x="6355080" y="371246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7040880" y="3611880"/>
            <a:ext cx="4480560" cy="713232"/>
          </a:xfrm>
          <a:prstGeom prst="rect">
            <a:avLst/>
          </a:prstGeom>
          <a:noFill/>
          <a:ln/>
        </p:spPr>
        <p:txBody>
          <a:bodyPr wrap="square" lIns="0" tIns="0" rIns="0" bIns="0" rtlCol="0" anchor="ctr"/>
          <a:lstStyle/>
          <a:p>
            <a:pPr indent="0" marL="0">
              <a:buNone/>
            </a:pPr>
            <a:r>
              <a:rPr lang="en-US" sz="1500" b="1" dirty="0">
                <a:solidFill>
                  <a:schemeClr val="accent4"/>
                </a:solidFill>
              </a:rPr>
              <a:t>SQL  </a:t>
            </a:r>
            <a:pPr indent="0" marL="0">
              <a:buNone/>
            </a:pPr>
            <a:r>
              <a:rPr lang="en-US" sz="1500" dirty="0">
                <a:solidFill>
                  <a:schemeClr val="bg1"/>
                </a:solidFill>
              </a:rPr>
              <a:t>Ask a company-database question</a:t>
            </a:r>
            <a:endParaRPr lang="en-US" sz="1500" dirty="0"/>
          </a:p>
        </p:txBody>
      </p:sp>
      <p:sp>
        <p:nvSpPr>
          <p:cNvPr id="19" name="demo-row-3"/>
          <p:cNvSpPr/>
          <p:nvPr/>
        </p:nvSpPr>
        <p:spPr>
          <a:xfrm>
            <a:off x="6217920" y="4434840"/>
            <a:ext cx="5394960" cy="713232"/>
          </a:xfrm>
          <a:prstGeom prst="roundRect">
            <a:avLst>
              <a:gd name="adj" fmla="val 15385"/>
            </a:avLst>
          </a:prstGeom>
          <a:solidFill>
            <a:schemeClr val="accent3"/>
          </a:solidFill>
          <a:ln/>
        </p:spPr>
      </p:sp>
      <p:sp>
        <p:nvSpPr>
          <p:cNvPr id="20" name="Shape 17"/>
          <p:cNvSpPr/>
          <p:nvPr/>
        </p:nvSpPr>
        <p:spPr>
          <a:xfrm>
            <a:off x="6355080" y="4535424"/>
            <a:ext cx="512064" cy="512064"/>
          </a:xfrm>
          <a:prstGeom prst="ellipse">
            <a:avLst/>
          </a:prstGeom>
          <a:solidFill>
            <a:schemeClr val="accent2"/>
          </a:solidFill>
          <a:ln/>
        </p:spPr>
      </p:sp>
      <p:sp>
        <p:nvSpPr>
          <p:cNvPr id="21" name="Text 18"/>
          <p:cNvSpPr txBox="1"/>
          <p:nvPr/>
        </p:nvSpPr>
        <p:spPr>
          <a:xfrm>
            <a:off x="6355080" y="453542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19"/>
          <p:cNvSpPr txBox="1"/>
          <p:nvPr/>
        </p:nvSpPr>
        <p:spPr>
          <a:xfrm>
            <a:off x="7040880" y="4434840"/>
            <a:ext cx="4480560" cy="713232"/>
          </a:xfrm>
          <a:prstGeom prst="rect">
            <a:avLst/>
          </a:prstGeom>
          <a:noFill/>
          <a:ln/>
        </p:spPr>
        <p:txBody>
          <a:bodyPr wrap="square" lIns="0" tIns="0" rIns="0" bIns="0" rtlCol="0" anchor="ctr"/>
          <a:lstStyle/>
          <a:p>
            <a:pPr indent="0" marL="0">
              <a:buNone/>
            </a:pPr>
            <a:r>
              <a:rPr lang="en-US" sz="1500" b="1" dirty="0">
                <a:solidFill>
                  <a:schemeClr val="accent4"/>
                </a:solidFill>
              </a:rPr>
              <a:t>YouTube or Gmail  </a:t>
            </a:r>
            <a:pPr indent="0" marL="0">
              <a:buNone/>
            </a:pPr>
            <a:r>
              <a:rPr lang="en-US" sz="1500" dirty="0">
                <a:solidFill>
                  <a:schemeClr val="bg1"/>
                </a:solidFill>
              </a:rPr>
              <a:t>Search videos, or emails (read-only)</a:t>
            </a:r>
            <a:endParaRPr lang="en-US" sz="1500" dirty="0"/>
          </a:p>
        </p:txBody>
      </p:sp>
      <p:sp>
        <p:nvSpPr>
          <p:cNvPr id="23" name="demo-row-4"/>
          <p:cNvSpPr/>
          <p:nvPr/>
        </p:nvSpPr>
        <p:spPr>
          <a:xfrm>
            <a:off x="6217920" y="5257800"/>
            <a:ext cx="5394960" cy="713232"/>
          </a:xfrm>
          <a:prstGeom prst="roundRect">
            <a:avLst>
              <a:gd name="adj" fmla="val 15385"/>
            </a:avLst>
          </a:prstGeom>
          <a:solidFill>
            <a:schemeClr val="accent3"/>
          </a:solidFill>
          <a:ln/>
        </p:spPr>
      </p:sp>
      <p:sp>
        <p:nvSpPr>
          <p:cNvPr id="24" name="Shape 21"/>
          <p:cNvSpPr/>
          <p:nvPr/>
        </p:nvSpPr>
        <p:spPr>
          <a:xfrm>
            <a:off x="6355080" y="5358384"/>
            <a:ext cx="512064" cy="512064"/>
          </a:xfrm>
          <a:prstGeom prst="ellipse">
            <a:avLst/>
          </a:prstGeom>
          <a:solidFill>
            <a:schemeClr val="accent2"/>
          </a:solidFill>
          <a:ln/>
        </p:spPr>
      </p:sp>
      <p:sp>
        <p:nvSpPr>
          <p:cNvPr id="25" name="Text 22"/>
          <p:cNvSpPr txBox="1"/>
          <p:nvPr/>
        </p:nvSpPr>
        <p:spPr>
          <a:xfrm>
            <a:off x="6355080" y="535838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3"/>
          <p:cNvSpPr txBox="1"/>
          <p:nvPr/>
        </p:nvSpPr>
        <p:spPr>
          <a:xfrm>
            <a:off x="7040880" y="5257800"/>
            <a:ext cx="4480560" cy="713232"/>
          </a:xfrm>
          <a:prstGeom prst="rect">
            <a:avLst/>
          </a:prstGeom>
          <a:noFill/>
          <a:ln/>
        </p:spPr>
        <p:txBody>
          <a:bodyPr wrap="square" lIns="0" tIns="0" rIns="0" bIns="0" rtlCol="0" anchor="ctr"/>
          <a:lstStyle/>
          <a:p>
            <a:pPr indent="0" marL="0">
              <a:buNone/>
            </a:pPr>
            <a:r>
              <a:rPr lang="en-US" sz="1500" b="1" dirty="0">
                <a:solidFill>
                  <a:schemeClr val="accent4"/>
                </a:solidFill>
              </a:rPr>
              <a:t>Combined  </a:t>
            </a:r>
            <a:pPr indent="0" marL="0">
              <a:buNone/>
            </a:pPr>
            <a:r>
              <a:rPr lang="en-US" sz="1500" dirty="0">
                <a:solidFill>
                  <a:schemeClr val="bg1"/>
                </a:solidFill>
              </a:rPr>
              <a:t>Ask a two-tool question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AI Navy Teal">
  <a:themeElements>
    <a:clrScheme name="AI Navy Teal">
      <a:dk1>
        <a:srgbClr val="1E293B"/>
      </a:dk1>
      <a:lt1>
        <a:srgbClr val="FFFFFF"/>
      </a:lt1>
      <a:dk2>
        <a:srgbClr val="0B1F3A"/>
      </a:dk2>
      <a:lt2>
        <a:srgbClr val="EAF2FA"/>
      </a:lt2>
      <a:accent1>
        <a:srgbClr val="1F6FEB"/>
      </a:accent1>
      <a:accent2>
        <a:srgbClr val="14B8A6"/>
      </a:accent2>
      <a:accent3>
        <a:srgbClr val="0E4C92"/>
      </a:accent3>
      <a:accent4>
        <a:srgbClr val="5EEAD4"/>
      </a:accent4>
      <a:accent5>
        <a:srgbClr val="38BDF8"/>
      </a:accent5>
      <a:accent6>
        <a:srgbClr val="64748B"/>
      </a:accent6>
      <a:hlink>
        <a:srgbClr val="1F6FEB"/>
      </a:hlink>
      <a:folHlink>
        <a:srgbClr val="64748B"/>
      </a:folHlink>
    </a:clrScheme>
    <a:fontScheme name="AI Navy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Multi-Tool AI Assistant</dc:title>
  <dc:subject>PptxGenJS Presentation</dc:subject>
  <dc:creator>PptxGenJS</dc:creator>
  <cp:lastModifiedBy>PptxGenJS</cp:lastModifiedBy>
  <cp:revision>1</cp:revision>
  <dcterms:created xsi:type="dcterms:W3CDTF">2026-10-16T19:43:41Z</dcterms:created>
  <dcterms:modified xsi:type="dcterms:W3CDTF">2026-10-16T19:43:41Z</dcterms:modified>
</cp:coreProperties>
</file>